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256" r:id="rId5"/>
    <p:sldId id="267" r:id="rId6"/>
    <p:sldId id="298" r:id="rId7"/>
    <p:sldId id="315" r:id="rId8"/>
    <p:sldId id="285" r:id="rId9"/>
    <p:sldId id="282" r:id="rId10"/>
    <p:sldId id="284" r:id="rId11"/>
    <p:sldId id="294" r:id="rId12"/>
    <p:sldId id="293" r:id="rId13"/>
    <p:sldId id="292" r:id="rId14"/>
    <p:sldId id="295" r:id="rId15"/>
    <p:sldId id="296" r:id="rId16"/>
    <p:sldId id="290" r:id="rId17"/>
    <p:sldId id="301" r:id="rId18"/>
    <p:sldId id="299" r:id="rId19"/>
    <p:sldId id="309" r:id="rId20"/>
    <p:sldId id="318" r:id="rId21"/>
    <p:sldId id="280" r:id="rId22"/>
    <p:sldId id="316" r:id="rId23"/>
    <p:sldId id="312" r:id="rId24"/>
    <p:sldId id="313" r:id="rId25"/>
    <p:sldId id="308" r:id="rId26"/>
    <p:sldId id="304" r:id="rId27"/>
    <p:sldId id="303" r:id="rId28"/>
    <p:sldId id="302" r:id="rId29"/>
    <p:sldId id="300" r:id="rId30"/>
    <p:sldId id="306" r:id="rId31"/>
    <p:sldId id="307" r:id="rId32"/>
    <p:sldId id="317" r:id="rId33"/>
    <p:sldId id="273" r:id="rId3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0F69"/>
    <a:srgbClr val="1E2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78465" autoAdjust="0"/>
  </p:normalViewPr>
  <p:slideViewPr>
    <p:cSldViewPr>
      <p:cViewPr varScale="1">
        <p:scale>
          <a:sx n="57" d="100"/>
          <a:sy n="57" d="100"/>
        </p:scale>
        <p:origin x="462" y="-4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1A535717-6282-B8A9-4A51-0C6143A426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>
              <a:latin typeface="Calibri" panose="020F0502020204030204" pitchFamily="34" charset="0"/>
            </a:endParaRP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DD27BDA-9DF1-2F23-C7B3-C908C4CAB20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F372A8-AE9C-499C-A304-C1DE29D5C965}" type="datetimeFigureOut">
              <a:rPr lang="nl-NL" smtClean="0">
                <a:latin typeface="Calibri" panose="020F0502020204030204" pitchFamily="34" charset="0"/>
              </a:rPr>
              <a:t>17-9-2026</a:t>
            </a:fld>
            <a:endParaRPr lang="nl-NL" dirty="0">
              <a:latin typeface="Calibri" panose="020F0502020204030204" pitchFamily="34" charset="0"/>
            </a:endParaRP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F416087-3451-4BFF-B6CB-34373A15E3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>
              <a:latin typeface="Calibri" panose="020F0502020204030204" pitchFamily="34" charset="0"/>
            </a:endParaRP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E0E398E-39C7-A0CA-6452-24615DDF14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DE24F8-16F6-49F9-BE78-4BCD6448CC58}" type="slidenum">
              <a:rPr lang="nl-NL" smtClean="0">
                <a:latin typeface="Calibri" panose="020F0502020204030204" pitchFamily="34" charset="0"/>
              </a:rPr>
              <a:t>‹nr.›</a:t>
            </a:fld>
            <a:endParaRPr lang="nl-NL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977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58E0638-22DD-4535-A5B6-3DAD0A47B6C5}" type="datetimeFigureOut">
              <a:rPr lang="nl-NL" smtClean="0"/>
              <a:pPr/>
              <a:t>17-9-2026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4B8864A4-ACCF-45C8-942E-F7A33D42EFC8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1634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2690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59414-82E8-18EE-B51D-2103A8B56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FDF9B-C39D-0F21-5027-850CF865C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04BF22-7811-71C7-4F96-C24B4EDC7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GB" dirty="0"/>
              <a:t>Scalable </a:t>
            </a:r>
          </a:p>
          <a:p>
            <a:pPr marL="342900" indent="-342900"/>
            <a:r>
              <a:rPr lang="en-GB" dirty="0"/>
              <a:t>Self recovering</a:t>
            </a:r>
          </a:p>
          <a:p>
            <a:pPr marL="342900" indent="-342900"/>
            <a:r>
              <a:rPr lang="en-GB" dirty="0"/>
              <a:t>Scalable </a:t>
            </a:r>
          </a:p>
          <a:p>
            <a:pPr lvl="0"/>
            <a:r>
              <a:rPr lang="en-GB" dirty="0"/>
              <a:t>Self recovering</a:t>
            </a:r>
            <a:endParaRPr lang="en-NL" sz="1200" b="0" u="none" strike="noStrike" kern="1200" dirty="0">
              <a:solidFill>
                <a:schemeClr val="tx1"/>
              </a:solidFill>
              <a:effectLst/>
              <a:latin typeface="Calibri" panose="020F0502020204030204" pitchFamily="34" charset="0"/>
              <a:ea typeface="+mn-ea"/>
              <a:cs typeface="+mn-cs"/>
            </a:endParaRPr>
          </a:p>
          <a:p>
            <a:pPr lvl="0"/>
            <a:r>
              <a:rPr lang="en-NL" sz="1200" b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High Availability</a:t>
            </a:r>
          </a:p>
          <a:p>
            <a:pPr lvl="0"/>
            <a:r>
              <a:rPr lang="en-NL" sz="1200" b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Load Balancing</a:t>
            </a:r>
          </a:p>
          <a:p>
            <a:pPr lvl="0"/>
            <a:r>
              <a:rPr lang="en-NL" sz="1200" b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Fault Tolerance</a:t>
            </a:r>
            <a:br>
              <a:rPr lang="en-US" sz="1200" b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</a:br>
            <a:r>
              <a:rPr lang="en-NL" sz="1200" b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Sharding</a:t>
            </a:r>
          </a:p>
          <a:p>
            <a:pPr lvl="0"/>
            <a:r>
              <a:rPr lang="en-NL" sz="1200" b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Event-Driven Architecture</a:t>
            </a:r>
            <a:endParaRPr lang="en-NL" dirty="0"/>
          </a:p>
          <a:p>
            <a:pPr marL="342900" indent="-342900"/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7B63A-7CEB-DD26-13F9-CE86D2B3F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29005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DDDA5-9659-091B-A47B-BF90CF080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8A50EE-28A8-EDB1-EAEA-524A9F03D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98EF7B-D9FC-BDC5-F99D-5E2E171D2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GB" dirty="0"/>
              <a:t>Scalable </a:t>
            </a:r>
          </a:p>
          <a:p>
            <a:pPr marL="342900" indent="-342900"/>
            <a:r>
              <a:rPr lang="en-GB" dirty="0"/>
              <a:t>Self recovering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5887F-C78D-193B-B766-8092EC0BA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16449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C5CC5-91D0-0132-6278-A10C7648B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5CC141-D8C1-A008-6EFD-2D74AD8C79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A968E-48DD-93A7-5A83-8B83AE48D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dirty="0"/>
              <a:t>Misconfiguration</a:t>
            </a:r>
          </a:p>
          <a:p>
            <a:pPr marL="342900" indent="-342900"/>
            <a:r>
              <a:rPr lang="en-US" dirty="0"/>
              <a:t>Broken code deployed</a:t>
            </a:r>
          </a:p>
          <a:p>
            <a:pPr marL="342900" indent="-342900"/>
            <a:r>
              <a:rPr lang="en-US" dirty="0"/>
              <a:t>Unexpected spike in load</a:t>
            </a:r>
          </a:p>
          <a:p>
            <a:pPr marL="342900" indent="-342900"/>
            <a:r>
              <a:rPr lang="en-US" dirty="0"/>
              <a:t>Resources not scaled correctly</a:t>
            </a:r>
          </a:p>
          <a:p>
            <a:pPr marL="342900" indent="-342900"/>
            <a:r>
              <a:rPr lang="nl-NL" dirty="0" err="1"/>
              <a:t>External</a:t>
            </a:r>
            <a:r>
              <a:rPr lang="nl-NL" dirty="0"/>
              <a:t> service </a:t>
            </a:r>
            <a:r>
              <a:rPr lang="nl-NL" dirty="0" err="1"/>
              <a:t>unavailable</a:t>
            </a:r>
            <a:endParaRPr lang="nl-NL" dirty="0"/>
          </a:p>
          <a:p>
            <a:pPr marL="342900" indent="-342900"/>
            <a:r>
              <a:rPr lang="en-US" dirty="0"/>
              <a:t>Azure outage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C5D8B-06B2-3E2F-4EFD-0C1E61685F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77507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E7E3D-F68F-4A40-3E3A-DDE9A1721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FF9D08-08CD-689F-432D-0124029D1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EC047C-BC6E-9FE3-BC42-F232AE529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dirty="0"/>
              <a:t>Misconfiguration</a:t>
            </a:r>
          </a:p>
          <a:p>
            <a:pPr marL="342900" indent="-342900"/>
            <a:r>
              <a:rPr lang="en-US" dirty="0"/>
              <a:t>Broken code deployed</a:t>
            </a:r>
          </a:p>
          <a:p>
            <a:pPr marL="342900" indent="-342900"/>
            <a:r>
              <a:rPr lang="en-US" dirty="0"/>
              <a:t>Unexpected spike in load</a:t>
            </a:r>
          </a:p>
          <a:p>
            <a:pPr marL="342900" indent="-342900"/>
            <a:r>
              <a:rPr lang="en-US" dirty="0"/>
              <a:t>Resources not scaled correctly</a:t>
            </a:r>
          </a:p>
          <a:p>
            <a:pPr marL="342900" indent="-342900"/>
            <a:r>
              <a:rPr lang="nl-NL" dirty="0" err="1"/>
              <a:t>External</a:t>
            </a:r>
            <a:r>
              <a:rPr lang="nl-NL" dirty="0"/>
              <a:t> service </a:t>
            </a:r>
            <a:r>
              <a:rPr lang="nl-NL" dirty="0" err="1"/>
              <a:t>unavailable</a:t>
            </a:r>
            <a:endParaRPr lang="nl-NL" dirty="0"/>
          </a:p>
          <a:p>
            <a:pPr marL="342900" indent="-342900"/>
            <a:r>
              <a:rPr lang="en-US" dirty="0"/>
              <a:t>Azure outage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23B78-E777-B4B2-EC1A-7AA9AF63C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58648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0DF4E-4BA2-0CBC-E2B3-5D574CCE4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F7CD43-0632-7B44-2D77-BA188E66C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51F8ED-6F88-113B-F5C1-692C18B22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EC478-60E4-05CE-DD2E-6B02819EF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01010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DBAFD-3DA4-FD04-A992-105635DAE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3A9F96-B7B3-0591-3666-79E1FC852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C0B0F-10AC-4F91-11CB-05DD013C6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Monkey rapidly generates/sends random user interface inputs.</a:t>
            </a:r>
          </a:p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9F2EB-A9E5-7C85-F0B3-5CC3C1187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00948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DA313-888C-8C6B-9FA3-598349445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72FBD-2851-895D-E777-298CE5501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4B1C2D-9A30-209D-5906-7914B8C69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Matraque:</a:t>
            </a:r>
          </a:p>
          <a:p>
            <a:r>
              <a:rPr lang="fr-FR" sz="1200" b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fr-FR" sz="1200" b="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Generates</a:t>
            </a:r>
            <a:r>
              <a:rPr lang="fr-FR" sz="1200" b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200" b="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</a:t>
            </a:r>
            <a:r>
              <a:rPr lang="fr-FR" sz="1200" b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fr-FR" sz="1200" b="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invalid</a:t>
            </a:r>
            <a:r>
              <a:rPr lang="fr-FR" sz="1200" b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200" b="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graphical</a:t>
            </a:r>
            <a:r>
              <a:rPr lang="fr-FR" sz="1200" b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interface 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event</a:t>
            </a:r>
            <a:r>
              <a:rPr lang="fr-FR" sz="1200" b="0" i="0" kern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 at high speed;</a:t>
            </a:r>
          </a:p>
          <a:p>
            <a:r>
              <a:rPr lang="en-GB" b="0" dirty="0"/>
              <a:t> - Would test 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for days on end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prior to production delivery</a:t>
            </a:r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81F20-E2F6-6DD7-00BE-801825CD0F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10821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65F28-7076-59CC-4BDE-D07763041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81BC1A-CFF4-4D1B-99FF-134BAF849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CA358-5D1B-D6D4-7A6C-4203C94BB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L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deliberately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injecting failures in production systems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pproach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 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from firefighting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3629D-E2E7-437A-54FB-26EF046DC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10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941873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4AE89-BF1D-D5B9-37E6-E7A3AB7D7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C8660-295E-7FC9-13A1-9AFF8D04E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07FA1-35A8-F5D4-FDBA-7131A1B7E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B43A9-BFAD-78BD-AE7C-32AF24C54C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11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610050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1C9C0-F1E0-4BCA-584D-47E9BB2FE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F9717E-F317-00A7-6AF6-62B515902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08C14-F52D-0AE0-141B-12E311684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Source: https://youtu.be/ZBk8oCmfpMg?si=0tcwlUtA1Fx-aidi&amp;t=1404</a:t>
            </a:r>
            <a:endParaRPr lang="en-NL" sz="120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E2084-1945-21F9-4D64-FEC6AE8AE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12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36733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C65DB-E405-5DE6-D3B0-674712CCE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7B76C7-EE05-C77C-1A45-83A3A25CC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1F7F05-F12A-4EF4-DF8F-F1B7E9B80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5F59E-27DF-7126-3E8D-F3752A990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13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903733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80111-4085-4859-D74A-FA4989C1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1B3AFB-09B2-8644-AF93-DFEAA755D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72431-5691-7C1E-488C-19A7D599F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dirty="0"/>
              <a:t>Misconfiguration</a:t>
            </a:r>
          </a:p>
          <a:p>
            <a:pPr marL="342900" indent="-342900"/>
            <a:r>
              <a:rPr lang="en-US" dirty="0"/>
              <a:t>Broken code deployed</a:t>
            </a:r>
          </a:p>
          <a:p>
            <a:pPr marL="342900" indent="-342900"/>
            <a:r>
              <a:rPr lang="en-US" dirty="0"/>
              <a:t>Unexpected spike in load</a:t>
            </a:r>
          </a:p>
          <a:p>
            <a:pPr marL="342900" indent="-342900"/>
            <a:r>
              <a:rPr lang="en-US" dirty="0"/>
              <a:t>Resources not scaled correctly</a:t>
            </a:r>
          </a:p>
          <a:p>
            <a:pPr marL="342900" indent="-342900"/>
            <a:r>
              <a:rPr lang="nl-NL" dirty="0" err="1"/>
              <a:t>External</a:t>
            </a:r>
            <a:r>
              <a:rPr lang="nl-NL" dirty="0"/>
              <a:t> service </a:t>
            </a:r>
            <a:r>
              <a:rPr lang="nl-NL" dirty="0" err="1"/>
              <a:t>unavailable</a:t>
            </a:r>
            <a:endParaRPr lang="nl-NL" dirty="0"/>
          </a:p>
          <a:p>
            <a:pPr marL="342900" indent="-342900"/>
            <a:r>
              <a:rPr lang="en-US" dirty="0"/>
              <a:t>Azure outage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7D646-4803-F9AA-3F9F-CF5E87DB6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14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233479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85109-9283-48C5-A48A-BBD5EA840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D1C66-76A4-DA43-0843-1E6039EAA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62EF6-71C9-98B6-22DC-414BFDA99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12AE0-21F9-F1E9-5D62-F627EFD3A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15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49620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8C314-3E9B-337D-A2DE-EB1E316D9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35D4B-7262-DF56-9FB2-216D4D578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F7FA5-E905-631C-B2AF-35E363DA9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D5F97-6406-5C24-EFB4-6CD6F8A08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16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904228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16F85-3FC9-5816-27B4-5DAEE61AA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C4D22-9C37-6A14-407E-7A98A39BC3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B101C8-768C-A096-24D2-3675A9F65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483E8-965B-B803-3946-793870578B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17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840591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EE96D-4D21-B00D-3A4E-383B50ACA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DCAEC-4B46-F142-0A09-93890B325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59D14-8228-7B7E-2E78-564BE8E23A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E1726-A11B-5A30-3B51-D28B076A8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18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527649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10629-B227-8E22-C1CC-3A8104BC6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8524F3-B094-FE18-39EE-45BA6EC53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475409-7F2F-43BD-B0C5-FDF938CCB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CA16F-BAE5-143C-3F20-675433C95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19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232777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577C1-92C1-3F0D-8443-3DD988C41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99F8B-DBD5-588D-670C-D806443A9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B02A92-B003-C032-2E5C-3E503AFCC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456BB-0756-18A0-55EB-BE5E8FDB7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20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799378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2C80B-1791-1046-09BE-C55C684D8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B2233-8564-92C9-A6B4-5F7DBF918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F2F63-A8C5-FC99-27AC-377F4E133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913C3-42EF-304F-3CD8-5BE8EF9C3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21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538207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DC578-AA81-450F-8174-F093CD220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3AA2E-83F6-74F4-9795-12CA8FBC2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62EC00-C128-7738-A642-257B82A65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Workspaces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4D26D-CDE6-D3AF-6978-85D1B5179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22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538227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A1CA6-92DB-68F4-2FA6-A1768A49C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7E267-E35F-06AF-5480-847C86EF8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0E7199-E725-D9CD-B07B-CAFA69E4F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 - Real failures are injected</a:t>
            </a:r>
          </a:p>
          <a:p>
            <a:r>
              <a:rPr lang="en-GB" dirty="0"/>
              <a:t> - Experiments on can impact customers</a:t>
            </a:r>
          </a:p>
          <a:p>
            <a:r>
              <a:rPr lang="en-GB" dirty="0"/>
              <a:t> - Unexpected dependencies causing a bigger failure than expected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E0A44-BA24-1C0C-1C1C-6FAAA9103A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23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857144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DA8EE-D980-05D1-5B6C-80FB8C8A2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5842D1-270C-3CA1-7A6C-68CC373D5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D4C65-3E82-49C8-CB8B-B3F16E550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53B54-0975-3578-D1EC-86773536D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24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652076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C1C32-8D17-F74C-1A16-7413A0342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EAB47D-A873-85FC-E7E2-60B65B674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07CB7C-7C96-9E8E-6241-11BB2A22E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NL" dirty="0"/>
              <a:t>Demo</a:t>
            </a:r>
          </a:p>
          <a:p>
            <a:pPr lvl="1"/>
            <a:r>
              <a:rPr lang="en-GB" dirty="0"/>
              <a:t> - </a:t>
            </a:r>
            <a:r>
              <a:rPr lang="en-NL" dirty="0"/>
              <a:t>Show </a:t>
            </a:r>
            <a:r>
              <a:rPr lang="en-NL" dirty="0" err="1"/>
              <a:t>MoneyBook</a:t>
            </a:r>
            <a:r>
              <a:rPr lang="en-NL" dirty="0"/>
              <a:t> application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95FA1-C4D1-AEBF-25BC-61DABA82B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25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872175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F06BC-0BE5-93E6-B3E5-BCC86DC73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47C47-4CAA-381D-1276-1CB6681CE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9A52A4-2AC2-D50D-8ED0-35375162C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GB" dirty="0"/>
              <a:t>I</a:t>
            </a:r>
            <a:r>
              <a:rPr lang="en-NL" dirty="0" err="1"/>
              <a:t>nfra</a:t>
            </a:r>
            <a:r>
              <a:rPr lang="en-NL" dirty="0"/>
              <a:t> overview</a:t>
            </a:r>
          </a:p>
          <a:p>
            <a:pPr lvl="1"/>
            <a:r>
              <a:rPr lang="en-NL" dirty="0"/>
              <a:t>What experiment are we going to build</a:t>
            </a:r>
          </a:p>
          <a:p>
            <a:pPr lvl="1"/>
            <a:br>
              <a:rPr lang="en-GB" dirty="0"/>
            </a:br>
            <a:r>
              <a:rPr lang="en-GB" dirty="0"/>
              <a:t> - </a:t>
            </a:r>
            <a:r>
              <a:rPr lang="en-NL" dirty="0"/>
              <a:t>Setting up the experiment</a:t>
            </a:r>
          </a:p>
          <a:p>
            <a:pPr lvl="1"/>
            <a:r>
              <a:rPr lang="en-GB" dirty="0"/>
              <a:t> - </a:t>
            </a:r>
            <a:r>
              <a:rPr lang="en-NL" dirty="0"/>
              <a:t>Running the experiment </a:t>
            </a:r>
          </a:p>
          <a:p>
            <a:pPr lvl="2"/>
            <a:r>
              <a:rPr lang="en-GB" dirty="0"/>
              <a:t> - </a:t>
            </a:r>
            <a:r>
              <a:rPr lang="en-NL" dirty="0"/>
              <a:t>Background processor turned off</a:t>
            </a:r>
          </a:p>
          <a:p>
            <a:pPr lvl="2"/>
            <a:r>
              <a:rPr lang="en-GB" dirty="0"/>
              <a:t> - </a:t>
            </a:r>
            <a:r>
              <a:rPr lang="en-NL" dirty="0"/>
              <a:t>Events queued in service bus</a:t>
            </a:r>
          </a:p>
          <a:p>
            <a:pPr lvl="2"/>
            <a:r>
              <a:rPr lang="en-GB"/>
              <a:t> - </a:t>
            </a:r>
            <a:r>
              <a:rPr lang="en-NL"/>
              <a:t>Feed </a:t>
            </a:r>
            <a:r>
              <a:rPr lang="en-NL" dirty="0"/>
              <a:t>not updated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2D9E6-20EA-63FB-E01C-D9CE758A9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26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49773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98EB8-E405-BE17-0B95-F51E8B696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DB95A-D37E-F375-AE1F-7D66784B8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2B8230-5002-DD10-9AE8-340BE4769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DE9E2-3B8B-2ED0-5497-AE7AB49F8B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27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508407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8AD1A-5FEA-040D-6DB7-C5A7A9E98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497DBC-B37C-9D0D-5E52-64508355A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AB627-32EF-01DA-DD7C-106FE0D3C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71172-EA38-C4AB-A5F6-CAD41B6C9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28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794131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15DFC-273C-1C8E-05E3-E176BCE64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E156C9-E780-DE20-0832-77FAFB1D5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99C40-D2E6-ED83-777D-D67F56EC4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NL" dirty="0"/>
              <a:t>Demo</a:t>
            </a:r>
          </a:p>
          <a:p>
            <a:pPr lvl="1"/>
            <a:r>
              <a:rPr lang="en-GB" dirty="0"/>
              <a:t> - </a:t>
            </a:r>
            <a:r>
              <a:rPr lang="en-NL" dirty="0"/>
              <a:t>Show </a:t>
            </a:r>
            <a:r>
              <a:rPr lang="en-NL" dirty="0" err="1"/>
              <a:t>MoneyBook</a:t>
            </a:r>
            <a:r>
              <a:rPr lang="en-NL" dirty="0"/>
              <a:t> application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289D9-70B6-7D6F-2F8D-09B85BDD09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64A4-ACCF-45C8-942E-F7A33D42EFC8}" type="slidenum">
              <a:rPr lang="nl-NL" smtClean="0"/>
              <a:pPr/>
              <a:t>29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68936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rinciplesofchaos.org/" TargetMode="External"/><Relationship Id="rId4" Type="http://schemas.openxmlformats.org/officeDocument/2006/relationships/hyperlink" Target="https://www.opentext.com/what-is/chaos-engineering#:~:text=Chaos%20engineering%20is%20the%20practice,actual%20outage%20or%20other%20disruption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Afbeelding 15" descr="Afbeelding met ruimte, schermopname, ster, kunst&#10;&#10;Door AI gegenereerde inhoud is mogelijk onjuist.">
            <a:extLst>
              <a:ext uri="{FF2B5EF4-FFF2-40B4-BE49-F238E27FC236}">
                <a16:creationId xmlns:a16="http://schemas.microsoft.com/office/drawing/2014/main" id="{6D3925E2-C6EC-F9BF-2A69-34B0307A427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67" b="21728"/>
          <a:stretch>
            <a:fillRect/>
          </a:stretch>
        </p:blipFill>
        <p:spPr>
          <a:xfrm>
            <a:off x="0" y="0"/>
            <a:ext cx="18288000" cy="7788146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0" y="7788145"/>
            <a:ext cx="18288001" cy="2498855"/>
            <a:chOff x="0" y="0"/>
            <a:chExt cx="4103185" cy="658135"/>
          </a:xfrm>
          <a:solidFill>
            <a:schemeClr val="tx1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103184" cy="658135"/>
            </a:xfrm>
            <a:custGeom>
              <a:avLst/>
              <a:gdLst/>
              <a:ahLst/>
              <a:cxnLst/>
              <a:rect l="l" t="t" r="r" b="b"/>
              <a:pathLst>
                <a:path w="4103184" h="658135">
                  <a:moveTo>
                    <a:pt x="0" y="0"/>
                  </a:moveTo>
                  <a:lnTo>
                    <a:pt x="4103184" y="0"/>
                  </a:lnTo>
                  <a:lnTo>
                    <a:pt x="4103184" y="658135"/>
                  </a:lnTo>
                  <a:lnTo>
                    <a:pt x="0" y="65813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03185" cy="69623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47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583750" y="8755941"/>
            <a:ext cx="3280104" cy="360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0"/>
              </a:lnSpc>
            </a:pPr>
            <a:r>
              <a:rPr lang="en-US" sz="2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18th of September</a:t>
            </a:r>
            <a:endParaRPr lang="en-US" sz="2299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583750" y="1163361"/>
            <a:ext cx="14201210" cy="36148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573"/>
              </a:lnSpc>
            </a:pPr>
            <a:r>
              <a:rPr lang="en-US" sz="17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Thrive in chaos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83750" y="4655282"/>
            <a:ext cx="12245511" cy="1508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5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Dotnet Friday</a:t>
            </a:r>
            <a:br>
              <a:rPr lang="en-US" sz="5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Martijn van Arkel</a:t>
            </a:r>
            <a:endParaRPr lang="en-US" sz="5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031ABE99-6374-D2D9-4A2C-24D0BA5CFD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270548" y="8663766"/>
            <a:ext cx="3178385" cy="6215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19206F7D-0370-7175-B8CC-6DA50969E3AF}"/>
              </a:ext>
            </a:extLst>
          </p:cNvPr>
          <p:cNvGrpSpPr/>
          <p:nvPr/>
        </p:nvGrpSpPr>
        <p:grpSpPr>
          <a:xfrm rot="5093484">
            <a:off x="5010721" y="-3131578"/>
            <a:ext cx="11310585" cy="25412025"/>
            <a:chOff x="0" y="0"/>
            <a:chExt cx="2978919" cy="4260915"/>
          </a:xfrm>
          <a:solidFill>
            <a:srgbClr val="1E22AA"/>
          </a:solidFill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1D057114-7A95-356F-3CF2-2A11F9D1ED8E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BDB345B7-B4B5-87CA-A830-CD01CD941005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3" name="Afbeelding 2">
            <a:extLst>
              <a:ext uri="{FF2B5EF4-FFF2-40B4-BE49-F238E27FC236}">
                <a16:creationId xmlns:a16="http://schemas.microsoft.com/office/drawing/2014/main" id="{C2E62F23-0DB1-CC22-6C08-A08DD3C7C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3000" y="1181100"/>
            <a:ext cx="7239909" cy="7239909"/>
          </a:xfrm>
          <a:prstGeom prst="ellipse">
            <a:avLst/>
          </a:prstGeom>
          <a:ln w="28575">
            <a:solidFill>
              <a:schemeClr val="bg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59F7A2-E194-068F-1072-AA953FDD5F80}"/>
              </a:ext>
            </a:extLst>
          </p:cNvPr>
          <p:cNvSpPr txBox="1"/>
          <p:nvPr/>
        </p:nvSpPr>
        <p:spPr>
          <a:xfrm>
            <a:off x="9677401" y="1181100"/>
            <a:ext cx="6858000" cy="121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295"/>
              </a:lnSpc>
            </a:pPr>
            <a:r>
              <a:rPr lang="en-US" sz="6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Martijn van Arkel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2D02-53D4-BD59-964A-16490E98106D}"/>
              </a:ext>
            </a:extLst>
          </p:cNvPr>
          <p:cNvSpPr txBox="1"/>
          <p:nvPr/>
        </p:nvSpPr>
        <p:spPr>
          <a:xfrm>
            <a:off x="9677401" y="2461282"/>
            <a:ext cx="3280104" cy="360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0"/>
              </a:lnSpc>
            </a:pP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.NET Developer</a:t>
            </a:r>
            <a:endParaRPr lang="en-US" sz="2299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F5ADF8-FAA6-9EA7-D343-EFF4400FA4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62029">
            <a:off x="9163417" y="3128444"/>
            <a:ext cx="4518222" cy="60263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876C29-0E7B-1215-D061-D42AF7938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97174">
            <a:off x="12457901" y="3242345"/>
            <a:ext cx="4941667" cy="658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66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85A0B-2252-F162-42AC-E7F4D4C67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BA5C491-60BA-2660-DAF6-E26FF4EF0EE5}"/>
              </a:ext>
            </a:extLst>
          </p:cNvPr>
          <p:cNvGrpSpPr/>
          <p:nvPr/>
        </p:nvGrpSpPr>
        <p:grpSpPr>
          <a:xfrm rot="2101979">
            <a:off x="9691214" y="-1136688"/>
            <a:ext cx="11310585" cy="16178162"/>
            <a:chOff x="0" y="0"/>
            <a:chExt cx="2978919" cy="42609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4A20C66-A934-B803-74BF-98DDE02CB2E6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solidFill>
              <a:srgbClr val="CE0F69"/>
            </a:solidFill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4B80DC5-2A60-E8CA-4426-F5AC667ADF7B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52" name="Afbeelding 51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0128A8A7-6F64-4862-B542-120E688EA9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0" y="8917042"/>
            <a:ext cx="2057400" cy="402317"/>
          </a:xfrm>
          <a:prstGeom prst="rect">
            <a:avLst/>
          </a:prstGeom>
        </p:spPr>
      </p:pic>
      <p:sp>
        <p:nvSpPr>
          <p:cNvPr id="8" name="TextBox 45">
            <a:extLst>
              <a:ext uri="{FF2B5EF4-FFF2-40B4-BE49-F238E27FC236}">
                <a16:creationId xmlns:a16="http://schemas.microsoft.com/office/drawing/2014/main" id="{4A8E2124-A16F-15E8-DF2A-49183FBBFCE5}"/>
              </a:ext>
            </a:extLst>
          </p:cNvPr>
          <p:cNvSpPr txBox="1"/>
          <p:nvPr/>
        </p:nvSpPr>
        <p:spPr>
          <a:xfrm>
            <a:off x="2556524" y="3938042"/>
            <a:ext cx="13174951" cy="2410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all try to build reliable systems</a:t>
            </a:r>
          </a:p>
        </p:txBody>
      </p:sp>
    </p:spTree>
    <p:extLst>
      <p:ext uri="{BB962C8B-B14F-4D97-AF65-F5344CB8AC3E}">
        <p14:creationId xmlns:p14="http://schemas.microsoft.com/office/powerpoint/2010/main" val="2478645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5E164D-BED0-B694-71BB-DFB5E7E7A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19911F7-9755-A1C1-07DE-35128A9A5842}"/>
              </a:ext>
            </a:extLst>
          </p:cNvPr>
          <p:cNvGrpSpPr/>
          <p:nvPr/>
        </p:nvGrpSpPr>
        <p:grpSpPr>
          <a:xfrm rot="2101979">
            <a:off x="9691214" y="-1136688"/>
            <a:ext cx="11310585" cy="16178162"/>
            <a:chOff x="0" y="0"/>
            <a:chExt cx="2978919" cy="42609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98A4A9B-B657-C3C7-78E7-9EDCFD7165B0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solidFill>
              <a:srgbClr val="CE0F69"/>
            </a:solidFill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5269346-5DD8-D4EF-E7C3-4FDAAFA7C34E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52" name="Afbeelding 51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EA63007E-4A74-17D1-C6E1-FFC58A1770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0" y="8917042"/>
            <a:ext cx="2057400" cy="402317"/>
          </a:xfrm>
          <a:prstGeom prst="rect">
            <a:avLst/>
          </a:prstGeom>
        </p:spPr>
      </p:pic>
      <p:sp>
        <p:nvSpPr>
          <p:cNvPr id="8" name="TextBox 45">
            <a:extLst>
              <a:ext uri="{FF2B5EF4-FFF2-40B4-BE49-F238E27FC236}">
                <a16:creationId xmlns:a16="http://schemas.microsoft.com/office/drawing/2014/main" id="{B9848722-2987-3D7C-D5C8-55969BFACF06}"/>
              </a:ext>
            </a:extLst>
          </p:cNvPr>
          <p:cNvSpPr txBox="1"/>
          <p:nvPr/>
        </p:nvSpPr>
        <p:spPr>
          <a:xfrm>
            <a:off x="539044" y="3938042"/>
            <a:ext cx="17209912" cy="2410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Then the inevitable happens </a:t>
            </a:r>
          </a:p>
          <a:p>
            <a:pPr algn="ctr">
              <a:lnSpc>
                <a:spcPts val="9360"/>
              </a:lnSpc>
            </a:pPr>
            <a:r>
              <a:rPr lang="en-US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3:00 AM</a:t>
            </a:r>
            <a:endParaRPr lang="en-GB" sz="8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796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920D0C-06E7-5A5D-ADBD-655BBD089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14809DD-3EC9-58EF-DF15-F289C13D6920}"/>
              </a:ext>
            </a:extLst>
          </p:cNvPr>
          <p:cNvGrpSpPr/>
          <p:nvPr/>
        </p:nvGrpSpPr>
        <p:grpSpPr>
          <a:xfrm rot="2101979">
            <a:off x="9691214" y="-1136688"/>
            <a:ext cx="11310585" cy="16178162"/>
            <a:chOff x="0" y="0"/>
            <a:chExt cx="2978919" cy="42609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509C221-E5DD-1749-6776-A2EA8B3396EB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solidFill>
              <a:srgbClr val="CE0F69"/>
            </a:solidFill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8A2AB0B-4152-01F9-C813-D5160EE3479D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sp>
        <p:nvSpPr>
          <p:cNvPr id="45" name="TextBox 45">
            <a:extLst>
              <a:ext uri="{FF2B5EF4-FFF2-40B4-BE49-F238E27FC236}">
                <a16:creationId xmlns:a16="http://schemas.microsoft.com/office/drawing/2014/main" id="{A8275087-4BB1-7536-5251-5CB582735B3C}"/>
              </a:ext>
            </a:extLst>
          </p:cNvPr>
          <p:cNvSpPr txBox="1"/>
          <p:nvPr/>
        </p:nvSpPr>
        <p:spPr>
          <a:xfrm>
            <a:off x="2664536" y="3938042"/>
            <a:ext cx="12958927" cy="2410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you sure they work as designed in production</a:t>
            </a:r>
            <a:endParaRPr lang="en-US" sz="8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2" name="Afbeelding 51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6C6625F0-7589-BFCE-8D11-4559622890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0" y="8917042"/>
            <a:ext cx="2057400" cy="40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603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773353-EC86-2EC2-964E-2E625CDEA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19C992F-45C1-6E8F-3A60-DC641482E435}"/>
              </a:ext>
            </a:extLst>
          </p:cNvPr>
          <p:cNvGrpSpPr/>
          <p:nvPr/>
        </p:nvGrpSpPr>
        <p:grpSpPr>
          <a:xfrm rot="2101979">
            <a:off x="9691214" y="-1136688"/>
            <a:ext cx="11310585" cy="16178162"/>
            <a:chOff x="0" y="0"/>
            <a:chExt cx="2978919" cy="42609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C27B424-CFE7-57E6-7DAA-F0027ECDCD0A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solidFill>
              <a:srgbClr val="CE0F69"/>
            </a:solidFill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ECC231E-CC47-F7BC-84D4-A2EA7F5AD253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sp>
        <p:nvSpPr>
          <p:cNvPr id="45" name="TextBox 45">
            <a:extLst>
              <a:ext uri="{FF2B5EF4-FFF2-40B4-BE49-F238E27FC236}">
                <a16:creationId xmlns:a16="http://schemas.microsoft.com/office/drawing/2014/main" id="{E175A12C-333A-9D4E-FDC2-991CE2BF77DD}"/>
              </a:ext>
            </a:extLst>
          </p:cNvPr>
          <p:cNvSpPr txBox="1"/>
          <p:nvPr/>
        </p:nvSpPr>
        <p:spPr>
          <a:xfrm>
            <a:off x="2556524" y="3335312"/>
            <a:ext cx="13174951" cy="361637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where </a:t>
            </a:r>
          </a:p>
          <a:p>
            <a:pPr algn="ctr">
              <a:lnSpc>
                <a:spcPts val="936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chaos engineering</a:t>
            </a:r>
          </a:p>
          <a:p>
            <a:pPr algn="ctr">
              <a:lnSpc>
                <a:spcPts val="936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help</a:t>
            </a:r>
            <a:endParaRPr lang="en-US" sz="8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2" name="Afbeelding 51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3F1A61C1-37BB-8C0D-EA39-2C134FFCE3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0" y="8917042"/>
            <a:ext cx="2057400" cy="40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326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75720F-8122-F2A4-E30B-76DD3774B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66EC5B7-6E0D-0DC7-D30C-407FB7F6B86D}"/>
              </a:ext>
            </a:extLst>
          </p:cNvPr>
          <p:cNvGrpSpPr/>
          <p:nvPr/>
        </p:nvGrpSpPr>
        <p:grpSpPr>
          <a:xfrm rot="19498021" flipH="1">
            <a:off x="-2705696" y="-1136688"/>
            <a:ext cx="11310585" cy="16178162"/>
            <a:chOff x="0" y="0"/>
            <a:chExt cx="2978919" cy="4260915"/>
          </a:xfrm>
          <a:solidFill>
            <a:srgbClr val="1E22AA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B911CDF-AEF0-C7B0-D935-A836D6DC9422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D50CD4F-F8C0-5B00-E457-03ED491456ED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5" name="Afbeelding 4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66EB0B2E-940F-2C3C-7CEB-265B772A9A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069442"/>
            <a:ext cx="2057400" cy="402317"/>
          </a:xfrm>
          <a:prstGeom prst="rect">
            <a:avLst/>
          </a:prstGeom>
        </p:spPr>
      </p:pic>
      <p:sp>
        <p:nvSpPr>
          <p:cNvPr id="7" name="TextBox 45">
            <a:extLst>
              <a:ext uri="{FF2B5EF4-FFF2-40B4-BE49-F238E27FC236}">
                <a16:creationId xmlns:a16="http://schemas.microsoft.com/office/drawing/2014/main" id="{66A00A37-260F-552C-2309-8456235EFDC5}"/>
              </a:ext>
            </a:extLst>
          </p:cNvPr>
          <p:cNvSpPr txBox="1"/>
          <p:nvPr/>
        </p:nvSpPr>
        <p:spPr>
          <a:xfrm>
            <a:off x="2556524" y="4540771"/>
            <a:ext cx="13174951" cy="1205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Let’s start with some history</a:t>
            </a:r>
            <a:endParaRPr lang="en-US" sz="8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839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C44773-8E3A-9A60-5CE2-74D26D407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878FDD3-F8F9-31B7-8439-A1BFF868168A}"/>
              </a:ext>
            </a:extLst>
          </p:cNvPr>
          <p:cNvGrpSpPr/>
          <p:nvPr/>
        </p:nvGrpSpPr>
        <p:grpSpPr>
          <a:xfrm rot="19498021" flipH="1">
            <a:off x="-2705696" y="-1136688"/>
            <a:ext cx="11310585" cy="16178162"/>
            <a:chOff x="0" y="0"/>
            <a:chExt cx="2978919" cy="4260915"/>
          </a:xfrm>
          <a:solidFill>
            <a:srgbClr val="1E22AA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F6573A4-D6C8-EA24-3BA4-D290F7396820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8297AC3-8D74-918D-2579-33FCB05BC82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5" name="Afbeelding 4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351309D8-D7A1-BE0F-897C-C8A95B571C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069442"/>
            <a:ext cx="2057400" cy="402317"/>
          </a:xfrm>
          <a:prstGeom prst="rect">
            <a:avLst/>
          </a:prstGeom>
        </p:spPr>
      </p:pic>
      <p:sp>
        <p:nvSpPr>
          <p:cNvPr id="7" name="TextBox 45">
            <a:extLst>
              <a:ext uri="{FF2B5EF4-FFF2-40B4-BE49-F238E27FC236}">
                <a16:creationId xmlns:a16="http://schemas.microsoft.com/office/drawing/2014/main" id="{DC09F3D4-CB85-74F6-16AF-F8E839B32930}"/>
              </a:ext>
            </a:extLst>
          </p:cNvPr>
          <p:cNvSpPr txBox="1"/>
          <p:nvPr/>
        </p:nvSpPr>
        <p:spPr>
          <a:xfrm>
            <a:off x="2556524" y="820331"/>
            <a:ext cx="1317495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Apple 1983</a:t>
            </a:r>
            <a:endParaRPr lang="en-US" sz="8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2" descr="Steve Capps Named PayNearMe's First-Ever Fellow, Pioneering Advances in the  Customer Payment Experience">
            <a:extLst>
              <a:ext uri="{FF2B5EF4-FFF2-40B4-BE49-F238E27FC236}">
                <a16:creationId xmlns:a16="http://schemas.microsoft.com/office/drawing/2014/main" id="{0E726C0C-69F9-C3CC-E38D-894C3D6C4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793" y="2158576"/>
            <a:ext cx="4919153" cy="5969847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46">
            <a:extLst>
              <a:ext uri="{FF2B5EF4-FFF2-40B4-BE49-F238E27FC236}">
                <a16:creationId xmlns:a16="http://schemas.microsoft.com/office/drawing/2014/main" id="{3BE420EC-D49B-F3B6-4AFA-3E474C3A55FA}"/>
              </a:ext>
            </a:extLst>
          </p:cNvPr>
          <p:cNvSpPr txBox="1"/>
          <p:nvPr/>
        </p:nvSpPr>
        <p:spPr>
          <a:xfrm>
            <a:off x="4031432" y="4495428"/>
            <a:ext cx="5328592" cy="8577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ts val="336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Steve Capps developed Monkey </a:t>
            </a:r>
            <a:r>
              <a:rPr lang="en-GB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test MacWrite and </a:t>
            </a:r>
            <a:r>
              <a:rPr lang="en-GB" sz="28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MacPaint</a:t>
            </a:r>
            <a:r>
              <a:rPr lang="en-GB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1572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1DB38-C7A8-7C82-1615-3FB6F715D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899A9A0-C9D3-40E5-C1E9-D58E4F3C5815}"/>
              </a:ext>
            </a:extLst>
          </p:cNvPr>
          <p:cNvGrpSpPr/>
          <p:nvPr/>
        </p:nvGrpSpPr>
        <p:grpSpPr>
          <a:xfrm rot="19498021" flipH="1">
            <a:off x="-2705696" y="-1136688"/>
            <a:ext cx="11310585" cy="16178162"/>
            <a:chOff x="0" y="0"/>
            <a:chExt cx="2978919" cy="4260915"/>
          </a:xfrm>
          <a:solidFill>
            <a:srgbClr val="1E22AA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37577A7-9F49-85BF-54D7-5EC9364A2D8E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920C8CB-9EAC-04F8-CD40-5564F4DCA80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5" name="Afbeelding 4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11678139-46FE-149C-E6E0-3929771580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069442"/>
            <a:ext cx="2057400" cy="402317"/>
          </a:xfrm>
          <a:prstGeom prst="rect">
            <a:avLst/>
          </a:prstGeom>
        </p:spPr>
      </p:pic>
      <p:sp>
        <p:nvSpPr>
          <p:cNvPr id="7" name="TextBox 45">
            <a:extLst>
              <a:ext uri="{FF2B5EF4-FFF2-40B4-BE49-F238E27FC236}">
                <a16:creationId xmlns:a16="http://schemas.microsoft.com/office/drawing/2014/main" id="{DE729F89-487C-F2E1-7BE0-247C59D1F0EC}"/>
              </a:ext>
            </a:extLst>
          </p:cNvPr>
          <p:cNvSpPr txBox="1"/>
          <p:nvPr/>
        </p:nvSpPr>
        <p:spPr>
          <a:xfrm>
            <a:off x="2556524" y="820331"/>
            <a:ext cx="1317495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Prologue 1992</a:t>
            </a:r>
          </a:p>
        </p:txBody>
      </p:sp>
      <p:sp>
        <p:nvSpPr>
          <p:cNvPr id="9" name="TextBox 46">
            <a:extLst>
              <a:ext uri="{FF2B5EF4-FFF2-40B4-BE49-F238E27FC236}">
                <a16:creationId xmlns:a16="http://schemas.microsoft.com/office/drawing/2014/main" id="{3B6B0608-F85B-4E13-EE81-D074596B28BF}"/>
              </a:ext>
            </a:extLst>
          </p:cNvPr>
          <p:cNvSpPr txBox="1"/>
          <p:nvPr/>
        </p:nvSpPr>
        <p:spPr>
          <a:xfrm>
            <a:off x="4031432" y="4495428"/>
            <a:ext cx="5328592" cy="2601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ts val="3360"/>
              </a:lnSpc>
              <a:spcBef>
                <a:spcPct val="0"/>
              </a:spcBef>
            </a:pP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Iain James Marshall </a:t>
            </a:r>
            <a:r>
              <a:rPr lang="fr-FR" sz="28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</a:t>
            </a: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‘La Matraque’</a:t>
            </a:r>
            <a:b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Generates valid and invalid graphical interface events at high speed.</a:t>
            </a:r>
          </a:p>
        </p:txBody>
      </p:sp>
    </p:spTree>
    <p:extLst>
      <p:ext uri="{BB962C8B-B14F-4D97-AF65-F5344CB8AC3E}">
        <p14:creationId xmlns:p14="http://schemas.microsoft.com/office/powerpoint/2010/main" val="2404716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95398-C0E9-AE32-9306-1DAB0DBA0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245889D-2D32-77A8-8E99-2B5D36E1D2CF}"/>
              </a:ext>
            </a:extLst>
          </p:cNvPr>
          <p:cNvGrpSpPr/>
          <p:nvPr/>
        </p:nvGrpSpPr>
        <p:grpSpPr>
          <a:xfrm rot="19498021" flipH="1">
            <a:off x="-2705696" y="-1136688"/>
            <a:ext cx="11310585" cy="16178162"/>
            <a:chOff x="0" y="0"/>
            <a:chExt cx="2978919" cy="4260915"/>
          </a:xfrm>
          <a:solidFill>
            <a:srgbClr val="1E22AA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4DAF5AF-0618-05D5-08B3-A60F915FF7CA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A853A0A-7F71-8660-04F6-EE5B4A94283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5" name="Afbeelding 4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1F82D8E4-572A-2036-AD9E-992AD2CBA2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069442"/>
            <a:ext cx="2057400" cy="402317"/>
          </a:xfrm>
          <a:prstGeom prst="rect">
            <a:avLst/>
          </a:prstGeom>
        </p:spPr>
      </p:pic>
      <p:sp>
        <p:nvSpPr>
          <p:cNvPr id="7" name="TextBox 45">
            <a:extLst>
              <a:ext uri="{FF2B5EF4-FFF2-40B4-BE49-F238E27FC236}">
                <a16:creationId xmlns:a16="http://schemas.microsoft.com/office/drawing/2014/main" id="{579CB921-398B-931F-07C4-E301BB3A32A7}"/>
              </a:ext>
            </a:extLst>
          </p:cNvPr>
          <p:cNvSpPr txBox="1"/>
          <p:nvPr/>
        </p:nvSpPr>
        <p:spPr>
          <a:xfrm>
            <a:off x="2556524" y="820331"/>
            <a:ext cx="1317495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2003</a:t>
            </a:r>
            <a:endParaRPr lang="en-US" sz="8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6">
            <a:extLst>
              <a:ext uri="{FF2B5EF4-FFF2-40B4-BE49-F238E27FC236}">
                <a16:creationId xmlns:a16="http://schemas.microsoft.com/office/drawing/2014/main" id="{C4ADD6D2-8D0C-6BB5-75DA-A4B0CD38F0EC}"/>
              </a:ext>
            </a:extLst>
          </p:cNvPr>
          <p:cNvSpPr txBox="1"/>
          <p:nvPr/>
        </p:nvSpPr>
        <p:spPr>
          <a:xfrm>
            <a:off x="4031432" y="4495428"/>
            <a:ext cx="5328592" cy="3037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ts val="3360"/>
              </a:lnSpc>
              <a:spcBef>
                <a:spcPct val="0"/>
              </a:spcBef>
            </a:pPr>
            <a:r>
              <a:rPr lang="en-GB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Jesse Robins(aka ‘Master of Disaster’)</a:t>
            </a:r>
            <a:br>
              <a:rPr lang="en-GB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 program called ‘GameDay’. During GameDay real incidents are simulated.</a:t>
            </a:r>
          </a:p>
          <a:p>
            <a:pPr lvl="0">
              <a:lnSpc>
                <a:spcPts val="3360"/>
              </a:lnSpc>
              <a:spcBef>
                <a:spcPct val="0"/>
              </a:spcBef>
            </a:pPr>
            <a:endParaRPr lang="en-GB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0F94554B-AA86-68FB-353E-1947C9609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5474" y="3131193"/>
            <a:ext cx="6104321" cy="5493889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0443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EEF7C-D41F-ABC2-49AB-EFDDDC5B8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20B1FE2-19BE-96E1-EEAD-9B6AA5A1C214}"/>
              </a:ext>
            </a:extLst>
          </p:cNvPr>
          <p:cNvGrpSpPr/>
          <p:nvPr/>
        </p:nvGrpSpPr>
        <p:grpSpPr>
          <a:xfrm rot="19498021" flipH="1">
            <a:off x="-2705696" y="-1136688"/>
            <a:ext cx="11310585" cy="16178162"/>
            <a:chOff x="0" y="0"/>
            <a:chExt cx="2978919" cy="4260915"/>
          </a:xfrm>
          <a:solidFill>
            <a:srgbClr val="1E22AA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5408F51-8B85-C33C-673B-6541757C3651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E0EED62-DF31-E6C3-BA53-2FFFE4943A4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5" name="Afbeelding 4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92FEA069-924C-B5B3-AEBB-B889901180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069442"/>
            <a:ext cx="2057400" cy="402317"/>
          </a:xfrm>
          <a:prstGeom prst="rect">
            <a:avLst/>
          </a:prstGeom>
        </p:spPr>
      </p:pic>
      <p:sp>
        <p:nvSpPr>
          <p:cNvPr id="7" name="TextBox 45">
            <a:extLst>
              <a:ext uri="{FF2B5EF4-FFF2-40B4-BE49-F238E27FC236}">
                <a16:creationId xmlns:a16="http://schemas.microsoft.com/office/drawing/2014/main" id="{036AFEFF-0332-D6CE-D825-209D841C0558}"/>
              </a:ext>
            </a:extLst>
          </p:cNvPr>
          <p:cNvSpPr txBox="1"/>
          <p:nvPr/>
        </p:nvSpPr>
        <p:spPr>
          <a:xfrm>
            <a:off x="2556524" y="820331"/>
            <a:ext cx="1317495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2006</a:t>
            </a:r>
            <a:endParaRPr lang="en-US" sz="8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6">
            <a:extLst>
              <a:ext uri="{FF2B5EF4-FFF2-40B4-BE49-F238E27FC236}">
                <a16:creationId xmlns:a16="http://schemas.microsoft.com/office/drawing/2014/main" id="{D7D8E1B6-8A2C-8486-4A78-E83AE7A6F40B}"/>
              </a:ext>
            </a:extLst>
          </p:cNvPr>
          <p:cNvSpPr txBox="1"/>
          <p:nvPr/>
        </p:nvSpPr>
        <p:spPr>
          <a:xfrm>
            <a:off x="4031432" y="4495428"/>
            <a:ext cx="5328592" cy="2155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GB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Kripa Krishnan created ‘</a:t>
            </a:r>
            <a:r>
              <a:rPr lang="en-GB" sz="28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DiRT</a:t>
            </a:r>
            <a:r>
              <a:rPr lang="en-GB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’(Disaster Recovery Testing)</a:t>
            </a:r>
          </a:p>
          <a:p>
            <a:pPr lvl="0">
              <a:lnSpc>
                <a:spcPts val="3360"/>
              </a:lnSpc>
              <a:spcBef>
                <a:spcPct val="0"/>
              </a:spcBef>
            </a:pPr>
            <a:br>
              <a:rPr lang="en-GB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 too GameDay real incidents are simulate</a:t>
            </a:r>
          </a:p>
        </p:txBody>
      </p:sp>
      <p:pic>
        <p:nvPicPr>
          <p:cNvPr id="11" name="Picture 2" descr="Profielfoto van Kripa Krishnan">
            <a:extLst>
              <a:ext uri="{FF2B5EF4-FFF2-40B4-BE49-F238E27FC236}">
                <a16:creationId xmlns:a16="http://schemas.microsoft.com/office/drawing/2014/main" id="{7BCD91BB-D167-3E3D-16C9-C2AD33861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2152" y="2623220"/>
            <a:ext cx="6101129" cy="6101129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6912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1022A7-DF3E-DC61-6F95-221244850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B80B109-4312-874E-1F1D-EDB4202D283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9498021" flipH="1">
            <a:off x="-2705696" y="-1136688"/>
            <a:ext cx="11310585" cy="16178162"/>
            <a:chOff x="0" y="0"/>
            <a:chExt cx="2978919" cy="4260915"/>
          </a:xfrm>
          <a:solidFill>
            <a:srgbClr val="1E22AA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B1A0E71-E163-FE3B-35F7-21C47C033B6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FF21157-C6D5-AD18-950A-778B2C8B113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5" name="Afbeelding 4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3ABA3588-17D5-2E49-0AED-5B7AF30887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069442"/>
            <a:ext cx="2057400" cy="402317"/>
          </a:xfrm>
          <a:prstGeom prst="rect">
            <a:avLst/>
          </a:prstGeom>
        </p:spPr>
      </p:pic>
      <p:sp>
        <p:nvSpPr>
          <p:cNvPr id="7" name="TextBox 45">
            <a:extLst>
              <a:ext uri="{FF2B5EF4-FFF2-40B4-BE49-F238E27FC236}">
                <a16:creationId xmlns:a16="http://schemas.microsoft.com/office/drawing/2014/main" id="{8719BBED-0A01-6CE1-7A33-3460EF8EEF23}"/>
              </a:ext>
            </a:extLst>
          </p:cNvPr>
          <p:cNvSpPr txBox="1"/>
          <p:nvPr/>
        </p:nvSpPr>
        <p:spPr>
          <a:xfrm>
            <a:off x="2556524" y="820331"/>
            <a:ext cx="1317495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Netflix - 2011</a:t>
            </a:r>
            <a:endParaRPr lang="en-US" sz="8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6">
            <a:extLst>
              <a:ext uri="{FF2B5EF4-FFF2-40B4-BE49-F238E27FC236}">
                <a16:creationId xmlns:a16="http://schemas.microsoft.com/office/drawing/2014/main" id="{B8A16A79-D3B5-A485-2921-3FA5E9333223}"/>
              </a:ext>
            </a:extLst>
          </p:cNvPr>
          <p:cNvSpPr txBox="1"/>
          <p:nvPr/>
        </p:nvSpPr>
        <p:spPr>
          <a:xfrm>
            <a:off x="4031432" y="2839244"/>
            <a:ext cx="5328592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GB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Chaos Monkey: Takes down random instances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37059B-3004-D209-463D-F2A0726FC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2112" y="3662165"/>
            <a:ext cx="7233206" cy="4254268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2" name="TextBox 46">
            <a:extLst>
              <a:ext uri="{FF2B5EF4-FFF2-40B4-BE49-F238E27FC236}">
                <a16:creationId xmlns:a16="http://schemas.microsoft.com/office/drawing/2014/main" id="{B241EAAE-1928-A3A1-2C17-EF0DCD2D4EDF}"/>
              </a:ext>
            </a:extLst>
          </p:cNvPr>
          <p:cNvSpPr txBox="1"/>
          <p:nvPr/>
        </p:nvSpPr>
        <p:spPr>
          <a:xfrm>
            <a:off x="4031432" y="4423420"/>
            <a:ext cx="5328592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GB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Chaos Kong: Takes down an entire service</a:t>
            </a:r>
          </a:p>
        </p:txBody>
      </p:sp>
      <p:sp>
        <p:nvSpPr>
          <p:cNvPr id="14" name="TextBox 46">
            <a:extLst>
              <a:ext uri="{FF2B5EF4-FFF2-40B4-BE49-F238E27FC236}">
                <a16:creationId xmlns:a16="http://schemas.microsoft.com/office/drawing/2014/main" id="{D55DD625-7A02-CFC2-8B41-1632506EC5F3}"/>
              </a:ext>
            </a:extLst>
          </p:cNvPr>
          <p:cNvSpPr txBox="1"/>
          <p:nvPr/>
        </p:nvSpPr>
        <p:spPr>
          <a:xfrm>
            <a:off x="4031432" y="5903638"/>
            <a:ext cx="5328592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GB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Chaos Gorilla: Takes down an entire AWS region</a:t>
            </a:r>
          </a:p>
        </p:txBody>
      </p:sp>
    </p:spTree>
    <p:extLst>
      <p:ext uri="{BB962C8B-B14F-4D97-AF65-F5344CB8AC3E}">
        <p14:creationId xmlns:p14="http://schemas.microsoft.com/office/powerpoint/2010/main" val="351814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241E0-F98E-C283-68D1-49AE306D9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80EF0D-9CE9-5ED3-8ED9-6B5E8C6B6483}"/>
              </a:ext>
            </a:extLst>
          </p:cNvPr>
          <p:cNvGrpSpPr/>
          <p:nvPr/>
        </p:nvGrpSpPr>
        <p:grpSpPr>
          <a:xfrm rot="2101979">
            <a:off x="9691214" y="-1136688"/>
            <a:ext cx="11310585" cy="16178162"/>
            <a:chOff x="0" y="0"/>
            <a:chExt cx="2978919" cy="42609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AE3325E-2E5B-3067-A945-7D19DDE2B43B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solidFill>
              <a:srgbClr val="CE0F69"/>
            </a:solidFill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E151F73-94B0-3C34-ABE2-141B84156E9A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52" name="Afbeelding 51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3CB32BB3-D24B-593E-5D9D-9202921AAB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0" y="8917042"/>
            <a:ext cx="2057400" cy="402317"/>
          </a:xfrm>
          <a:prstGeom prst="rect">
            <a:avLst/>
          </a:prstGeom>
        </p:spPr>
      </p:pic>
      <p:sp>
        <p:nvSpPr>
          <p:cNvPr id="7" name="TextBox 45">
            <a:extLst>
              <a:ext uri="{FF2B5EF4-FFF2-40B4-BE49-F238E27FC236}">
                <a16:creationId xmlns:a16="http://schemas.microsoft.com/office/drawing/2014/main" id="{47E346D8-2621-381E-89E1-0A2BA88430E5}"/>
              </a:ext>
            </a:extLst>
          </p:cNvPr>
          <p:cNvSpPr txBox="1"/>
          <p:nvPr/>
        </p:nvSpPr>
        <p:spPr>
          <a:xfrm>
            <a:off x="2556524" y="3912393"/>
            <a:ext cx="13174951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Chaos engineering is just turning off random things? </a:t>
            </a:r>
            <a:endParaRPr lang="en-US" sz="8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889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F802D-EA33-DF14-2D31-FA493965D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029E95-D9D7-210E-AFBC-F6439FC41F5A}"/>
              </a:ext>
            </a:extLst>
          </p:cNvPr>
          <p:cNvGrpSpPr/>
          <p:nvPr/>
        </p:nvGrpSpPr>
        <p:grpSpPr>
          <a:xfrm rot="2101979">
            <a:off x="9691214" y="-1136688"/>
            <a:ext cx="11310585" cy="16178162"/>
            <a:chOff x="0" y="0"/>
            <a:chExt cx="2978919" cy="42609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5F8A2FB-2771-C626-0F5A-FBAECC1278C1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solidFill>
              <a:srgbClr val="CE0F69"/>
            </a:solidFill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25307F4-8636-8A6E-920E-7BFE06D1C4B8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52" name="Afbeelding 51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60AFEE95-DE85-E24D-C9BC-D8A946BD2B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0" y="8917042"/>
            <a:ext cx="2057400" cy="402317"/>
          </a:xfrm>
          <a:prstGeom prst="rect">
            <a:avLst/>
          </a:prstGeom>
        </p:spPr>
      </p:pic>
      <p:pic>
        <p:nvPicPr>
          <p:cNvPr id="5" name="Picture 4" descr="Ummm No Meme GIFs | Tenor">
            <a:extLst>
              <a:ext uri="{FF2B5EF4-FFF2-40B4-BE49-F238E27FC236}">
                <a16:creationId xmlns:a16="http://schemas.microsoft.com/office/drawing/2014/main" id="{DE27537D-8363-49DD-4CD1-FD2135F13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501" y="2155168"/>
            <a:ext cx="8964997" cy="5976664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390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2DB58A-C2F9-558E-03CA-28F4AC164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92719A1-7262-2BA1-2AEB-79B7F5849F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2101979">
            <a:off x="9691214" y="-1136688"/>
            <a:ext cx="11310585" cy="16178162"/>
            <a:chOff x="0" y="0"/>
            <a:chExt cx="2978919" cy="42609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060D54E-6B86-17BD-0648-750F2C55A4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solidFill>
              <a:srgbClr val="CE0F69"/>
            </a:solidFill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E200F67-EDA2-78E4-2BE0-1828B6C8153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52" name="Afbeelding 51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5527FF02-AAA8-D46A-7A67-84892AC0E0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0" y="8917042"/>
            <a:ext cx="2057400" cy="402317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5EC047B-E42D-2457-32AA-6ED293693BD7}"/>
              </a:ext>
            </a:extLst>
          </p:cNvPr>
          <p:cNvSpPr txBox="1">
            <a:spLocks/>
          </p:cNvSpPr>
          <p:nvPr/>
        </p:nvSpPr>
        <p:spPr>
          <a:xfrm>
            <a:off x="1331132" y="1196301"/>
            <a:ext cx="15625736" cy="403313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4000" dirty="0">
                <a:solidFill>
                  <a:schemeClr val="bg1"/>
                </a:solidFill>
              </a:rPr>
              <a:t>“Chaos engineering is the practice of </a:t>
            </a:r>
            <a:r>
              <a:rPr lang="en-US" sz="4000" b="1" dirty="0">
                <a:solidFill>
                  <a:schemeClr val="bg1"/>
                </a:solidFill>
              </a:rPr>
              <a:t>intentionally injecting faults into a system</a:t>
            </a:r>
            <a:r>
              <a:rPr lang="en-US" sz="4000" dirty="0">
                <a:solidFill>
                  <a:schemeClr val="bg1"/>
                </a:solidFill>
              </a:rPr>
              <a:t> to test its resilience. The goal is to </a:t>
            </a:r>
            <a:r>
              <a:rPr lang="en-US" sz="4000" b="1" dirty="0">
                <a:solidFill>
                  <a:schemeClr val="bg1"/>
                </a:solidFill>
              </a:rPr>
              <a:t>identify potential failure points </a:t>
            </a:r>
            <a:r>
              <a:rPr lang="en-US" sz="4000" dirty="0">
                <a:solidFill>
                  <a:schemeClr val="bg1"/>
                </a:solidFill>
              </a:rPr>
              <a:t>and correct them </a:t>
            </a:r>
            <a:r>
              <a:rPr lang="en-US" sz="4000" b="1" dirty="0">
                <a:solidFill>
                  <a:schemeClr val="bg1"/>
                </a:solidFill>
              </a:rPr>
              <a:t>before they cause an actual outage </a:t>
            </a:r>
            <a:r>
              <a:rPr lang="en-US" sz="4000" dirty="0">
                <a:solidFill>
                  <a:schemeClr val="bg1"/>
                </a:solidFill>
              </a:rPr>
              <a:t>or other disruption.”</a:t>
            </a:r>
            <a:br>
              <a:rPr lang="en-US" sz="44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Source: </a:t>
            </a:r>
            <a:r>
              <a:rPr lang="en-US" sz="20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https://www.opentext.com/what-is/chaos-engineering#:~:text=Chaos%20engineering%20is%20the%20practice,actual%20outage%20or%20other%20disruption</a:t>
            </a:r>
            <a:endParaRPr lang="en-US" sz="2000" dirty="0">
              <a:solidFill>
                <a:schemeClr val="bg1"/>
              </a:solidFill>
            </a:endParaRPr>
          </a:p>
          <a:p>
            <a:pPr algn="ctr"/>
            <a:endParaRPr lang="en-NL" sz="4000" dirty="0">
              <a:solidFill>
                <a:schemeClr val="bg1"/>
              </a:solidFill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5C593AC-5F1E-7539-9C9D-DAD656C06B3E}"/>
              </a:ext>
            </a:extLst>
          </p:cNvPr>
          <p:cNvSpPr txBox="1">
            <a:spLocks/>
          </p:cNvSpPr>
          <p:nvPr/>
        </p:nvSpPr>
        <p:spPr>
          <a:xfrm>
            <a:off x="1331132" y="5273856"/>
            <a:ext cx="15625736" cy="370811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4000" dirty="0">
                <a:solidFill>
                  <a:schemeClr val="bg1"/>
                </a:solidFill>
              </a:rPr>
              <a:t>“Chaos Engineering is the discipline of experimenting on a system in order to </a:t>
            </a:r>
            <a:r>
              <a:rPr lang="en-US" sz="4000" b="1" dirty="0">
                <a:solidFill>
                  <a:schemeClr val="bg1"/>
                </a:solidFill>
              </a:rPr>
              <a:t>build confidence </a:t>
            </a:r>
            <a:r>
              <a:rPr lang="en-US" sz="4000" dirty="0">
                <a:solidFill>
                  <a:schemeClr val="bg1"/>
                </a:solidFill>
              </a:rPr>
              <a:t>in the system’s capability to withstand turbulent conditions in production.”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Source: </a:t>
            </a:r>
            <a:r>
              <a:rPr lang="en-US" sz="20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https://principlesofchaos.org/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endParaRPr lang="nl-NL" sz="4400" dirty="0">
              <a:solidFill>
                <a:schemeClr val="bg1"/>
              </a:solidFill>
            </a:endParaRPr>
          </a:p>
          <a:p>
            <a:pPr algn="ctr"/>
            <a:endParaRPr lang="en-NL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60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48D857-8796-B47F-7EFA-9257CFFCC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19D9511-8AF5-BF58-E0E2-119D50A35968}"/>
              </a:ext>
            </a:extLst>
          </p:cNvPr>
          <p:cNvGrpSpPr/>
          <p:nvPr/>
        </p:nvGrpSpPr>
        <p:grpSpPr>
          <a:xfrm rot="2101979">
            <a:off x="9691214" y="-1136688"/>
            <a:ext cx="11310585" cy="16178162"/>
            <a:chOff x="0" y="0"/>
            <a:chExt cx="2978919" cy="42609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1560943-7B58-F992-B7C2-4A95118A782A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solidFill>
              <a:srgbClr val="CE0F69"/>
            </a:solidFill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A977D0B-5608-973E-98E1-96C20C6F0144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sp>
        <p:nvSpPr>
          <p:cNvPr id="18" name="Rechthoek 17">
            <a:extLst>
              <a:ext uri="{FF2B5EF4-FFF2-40B4-BE49-F238E27FC236}">
                <a16:creationId xmlns:a16="http://schemas.microsoft.com/office/drawing/2014/main" id="{9C2BD8CA-6090-5CFD-5D5C-D1554E6BCBE2}"/>
              </a:ext>
            </a:extLst>
          </p:cNvPr>
          <p:cNvSpPr/>
          <p:nvPr/>
        </p:nvSpPr>
        <p:spPr>
          <a:xfrm>
            <a:off x="5136720" y="2348850"/>
            <a:ext cx="8026281" cy="7139619"/>
          </a:xfrm>
          <a:prstGeom prst="rect">
            <a:avLst/>
          </a:prstGeom>
          <a:solidFill>
            <a:schemeClr val="bg1"/>
          </a:solidFill>
        </p:spPr>
        <p:txBody>
          <a:bodyPr rtlCol="0" anchor="ctr"/>
          <a:lstStyle/>
          <a:p>
            <a:pPr algn="l"/>
            <a:endParaRPr lang="en-NL"/>
          </a:p>
        </p:txBody>
      </p:sp>
      <p:pic>
        <p:nvPicPr>
          <p:cNvPr id="52" name="Afbeelding 51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965E1919-6842-A188-4A2F-9A4A7DE34F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0" y="8917042"/>
            <a:ext cx="2057400" cy="402317"/>
          </a:xfrm>
          <a:prstGeom prst="rect">
            <a:avLst/>
          </a:prstGeom>
        </p:spPr>
      </p:pic>
      <p:sp>
        <p:nvSpPr>
          <p:cNvPr id="6" name="TextBox 45">
            <a:extLst>
              <a:ext uri="{FF2B5EF4-FFF2-40B4-BE49-F238E27FC236}">
                <a16:creationId xmlns:a16="http://schemas.microsoft.com/office/drawing/2014/main" id="{ED0F2CA6-7FD1-3F10-9428-6AD8EF524235}"/>
              </a:ext>
            </a:extLst>
          </p:cNvPr>
          <p:cNvSpPr txBox="1"/>
          <p:nvPr/>
        </p:nvSpPr>
        <p:spPr>
          <a:xfrm>
            <a:off x="2307108" y="798531"/>
            <a:ext cx="1317495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Instead create experiments</a:t>
            </a:r>
            <a:endParaRPr lang="en-US" sz="8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Afbeelding 18" descr="Afbeelding van een diagramlightbox">
            <a:extLst>
              <a:ext uri="{FF2B5EF4-FFF2-40B4-BE49-F238E27FC236}">
                <a16:creationId xmlns:a16="http://schemas.microsoft.com/office/drawing/2014/main" id="{C39CB554-6EEE-D592-3DD8-883E4F74A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706" y="1831132"/>
            <a:ext cx="8562587" cy="85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547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79865E-89E6-5A35-8FCD-CD384EF24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407BF3B-AA75-CD40-8AA1-B6A6D5F6EA13}"/>
              </a:ext>
            </a:extLst>
          </p:cNvPr>
          <p:cNvGrpSpPr/>
          <p:nvPr/>
        </p:nvGrpSpPr>
        <p:grpSpPr>
          <a:xfrm rot="2101979">
            <a:off x="9691214" y="-1136688"/>
            <a:ext cx="11310585" cy="16178162"/>
            <a:chOff x="0" y="0"/>
            <a:chExt cx="2978919" cy="42609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14E6FC4-6668-5265-3F16-A9405AFC43E0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solidFill>
              <a:srgbClr val="CE0F69"/>
            </a:solidFill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6C9E08-3F88-5627-6531-FC1D5ABF1521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52" name="Afbeelding 51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62CC45BD-55AD-DA92-06A6-406652F5D1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0" y="8917042"/>
            <a:ext cx="2057400" cy="402317"/>
          </a:xfrm>
          <a:prstGeom prst="rect">
            <a:avLst/>
          </a:prstGeom>
        </p:spPr>
      </p:pic>
      <p:sp>
        <p:nvSpPr>
          <p:cNvPr id="6" name="TextBox 45">
            <a:extLst>
              <a:ext uri="{FF2B5EF4-FFF2-40B4-BE49-F238E27FC236}">
                <a16:creationId xmlns:a16="http://schemas.microsoft.com/office/drawing/2014/main" id="{B1800980-4543-7C56-FC14-8BB40C5C1994}"/>
              </a:ext>
            </a:extLst>
          </p:cNvPr>
          <p:cNvSpPr txBox="1"/>
          <p:nvPr/>
        </p:nvSpPr>
        <p:spPr>
          <a:xfrm>
            <a:off x="2307108" y="798531"/>
            <a:ext cx="1317495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Instead create experiments</a:t>
            </a:r>
            <a:endParaRPr lang="en-US" sz="8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254F7D-A1B4-DE5E-31AB-2D9B092D9BBC}"/>
              </a:ext>
            </a:extLst>
          </p:cNvPr>
          <p:cNvSpPr/>
          <p:nvPr/>
        </p:nvSpPr>
        <p:spPr>
          <a:xfrm>
            <a:off x="8063880" y="3415308"/>
            <a:ext cx="1537355" cy="153735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Hypothesis</a:t>
            </a:r>
            <a:endParaRPr lang="en-NL" dirty="0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207B918-2DBE-8245-30F0-9329CCC9EBD9}"/>
              </a:ext>
            </a:extLst>
          </p:cNvPr>
          <p:cNvSpPr/>
          <p:nvPr/>
        </p:nvSpPr>
        <p:spPr>
          <a:xfrm>
            <a:off x="9351819" y="6777778"/>
            <a:ext cx="1537355" cy="153735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Inject chaos</a:t>
            </a:r>
            <a:endParaRPr lang="en-NL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484AB91-B2EB-1F09-03A9-D4BD0CAF518E}"/>
              </a:ext>
            </a:extLst>
          </p:cNvPr>
          <p:cNvSpPr/>
          <p:nvPr/>
        </p:nvSpPr>
        <p:spPr>
          <a:xfrm>
            <a:off x="6850573" y="6777779"/>
            <a:ext cx="1537355" cy="153735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Observe system behaviour</a:t>
            </a:r>
            <a:endParaRPr lang="en-NL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03EBAF3-6AE2-9115-4C62-7E8864DF50A9}"/>
              </a:ext>
            </a:extLst>
          </p:cNvPr>
          <p:cNvSpPr/>
          <p:nvPr/>
        </p:nvSpPr>
        <p:spPr>
          <a:xfrm>
            <a:off x="6155344" y="4757300"/>
            <a:ext cx="1537355" cy="153735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Learn and make improve</a:t>
            </a:r>
            <a:endParaRPr lang="en-NL" dirty="0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733C451-EAED-7F39-6C12-C09C5F217DD1}"/>
              </a:ext>
            </a:extLst>
          </p:cNvPr>
          <p:cNvSpPr/>
          <p:nvPr/>
        </p:nvSpPr>
        <p:spPr>
          <a:xfrm>
            <a:off x="9972416" y="4757300"/>
            <a:ext cx="1537355" cy="153735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Design</a:t>
            </a:r>
          </a:p>
          <a:p>
            <a:pPr algn="ctr"/>
            <a:r>
              <a:rPr lang="en-GB" dirty="0">
                <a:solidFill>
                  <a:schemeClr val="bg1"/>
                </a:solidFill>
              </a:rPr>
              <a:t>experiment</a:t>
            </a:r>
            <a:endParaRPr lang="en-NL" dirty="0">
              <a:solidFill>
                <a:schemeClr val="bg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7F67DFE-D396-AEAD-A61E-848C4621EBF9}"/>
              </a:ext>
            </a:extLst>
          </p:cNvPr>
          <p:cNvCxnSpPr>
            <a:cxnSpLocks/>
          </p:cNvCxnSpPr>
          <p:nvPr/>
        </p:nvCxnSpPr>
        <p:spPr>
          <a:xfrm>
            <a:off x="9582336" y="4570638"/>
            <a:ext cx="538160" cy="382025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95AA309-F221-9B16-8F8D-8CCC1907D87A}"/>
              </a:ext>
            </a:extLst>
          </p:cNvPr>
          <p:cNvCxnSpPr>
            <a:cxnSpLocks/>
          </p:cNvCxnSpPr>
          <p:nvPr/>
        </p:nvCxnSpPr>
        <p:spPr>
          <a:xfrm flipH="1">
            <a:off x="10416883" y="6371380"/>
            <a:ext cx="107950" cy="38100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99AD5D0-4A1D-39E9-D19D-609200BF3E31}"/>
              </a:ext>
            </a:extLst>
          </p:cNvPr>
          <p:cNvCxnSpPr>
            <a:cxnSpLocks/>
          </p:cNvCxnSpPr>
          <p:nvPr/>
        </p:nvCxnSpPr>
        <p:spPr>
          <a:xfrm flipH="1">
            <a:off x="8510037" y="7546455"/>
            <a:ext cx="739240" cy="1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CC4DE07-E417-FC80-80F8-28BAD3F6649D}"/>
              </a:ext>
            </a:extLst>
          </p:cNvPr>
          <p:cNvCxnSpPr>
            <a:cxnSpLocks/>
          </p:cNvCxnSpPr>
          <p:nvPr/>
        </p:nvCxnSpPr>
        <p:spPr>
          <a:xfrm flipH="1" flipV="1">
            <a:off x="7049478" y="6371380"/>
            <a:ext cx="198756" cy="406398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7181CEA-B1FD-421C-3AF3-FBED0618F780}"/>
              </a:ext>
            </a:extLst>
          </p:cNvPr>
          <p:cNvCxnSpPr>
            <a:cxnSpLocks/>
          </p:cNvCxnSpPr>
          <p:nvPr/>
        </p:nvCxnSpPr>
        <p:spPr>
          <a:xfrm flipV="1">
            <a:off x="7609210" y="4627616"/>
            <a:ext cx="454670" cy="32504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587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A0B25-219B-81C7-5813-C8FEB06E0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754BA36-2A1C-40FA-1375-7480115FF3DB}"/>
              </a:ext>
            </a:extLst>
          </p:cNvPr>
          <p:cNvGrpSpPr/>
          <p:nvPr/>
        </p:nvGrpSpPr>
        <p:grpSpPr>
          <a:xfrm rot="2101979">
            <a:off x="9691214" y="-1136688"/>
            <a:ext cx="11310585" cy="16178162"/>
            <a:chOff x="0" y="0"/>
            <a:chExt cx="2978919" cy="42609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064C02A-3ACA-9208-BE80-234FEE5FFEB6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solidFill>
              <a:srgbClr val="CE0F69"/>
            </a:solidFill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48D004F-3DE1-6F9C-B71B-6627800B4E53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sp>
        <p:nvSpPr>
          <p:cNvPr id="45" name="TextBox 45">
            <a:extLst>
              <a:ext uri="{FF2B5EF4-FFF2-40B4-BE49-F238E27FC236}">
                <a16:creationId xmlns:a16="http://schemas.microsoft.com/office/drawing/2014/main" id="{81CB4C8C-B55F-5D3B-9093-ED7B549AA3A7}"/>
              </a:ext>
            </a:extLst>
          </p:cNvPr>
          <p:cNvSpPr txBox="1"/>
          <p:nvPr/>
        </p:nvSpPr>
        <p:spPr>
          <a:xfrm>
            <a:off x="1296384" y="987072"/>
            <a:ext cx="15695231" cy="1205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to run experiments</a:t>
            </a:r>
            <a:endParaRPr lang="en-US" sz="8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2" name="Afbeelding 51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E06D414C-7CF1-4624-6EC2-352B710BA2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0" y="8917042"/>
            <a:ext cx="2057400" cy="402317"/>
          </a:xfrm>
          <a:prstGeom prst="rect">
            <a:avLst/>
          </a:prstGeom>
        </p:spPr>
      </p:pic>
      <p:pic>
        <p:nvPicPr>
          <p:cNvPr id="6" name="Picture 2" descr="we’ve all tested in production!!!">
            <a:extLst>
              <a:ext uri="{FF2B5EF4-FFF2-40B4-BE49-F238E27FC236}">
                <a16:creationId xmlns:a16="http://schemas.microsoft.com/office/drawing/2014/main" id="{8B0C937E-1DFF-DB4B-144A-DFF7D374E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7595" y="2623220"/>
            <a:ext cx="11732807" cy="6179277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519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1DD6E5-563F-FF74-696E-2411C86BA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E0E6C30-E636-7D01-6528-657881B7B797}"/>
              </a:ext>
            </a:extLst>
          </p:cNvPr>
          <p:cNvGrpSpPr/>
          <p:nvPr/>
        </p:nvGrpSpPr>
        <p:grpSpPr>
          <a:xfrm rot="2101979">
            <a:off x="9691214" y="-1136688"/>
            <a:ext cx="11310585" cy="16178162"/>
            <a:chOff x="0" y="0"/>
            <a:chExt cx="2978919" cy="42609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B5AA445-EEB5-BF82-ADE4-FF2EDBC7FC29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solidFill>
              <a:srgbClr val="CE0F69"/>
            </a:solidFill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403659F-7A6C-3DBA-87DA-2815897155F3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52" name="Afbeelding 51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B3A9F483-D4CC-A02A-49E3-7187B5B078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0" y="8917042"/>
            <a:ext cx="2057400" cy="402317"/>
          </a:xfrm>
          <a:prstGeom prst="rect">
            <a:avLst/>
          </a:prstGeom>
        </p:spPr>
      </p:pic>
      <p:sp>
        <p:nvSpPr>
          <p:cNvPr id="7" name="TextBox 45">
            <a:extLst>
              <a:ext uri="{FF2B5EF4-FFF2-40B4-BE49-F238E27FC236}">
                <a16:creationId xmlns:a16="http://schemas.microsoft.com/office/drawing/2014/main" id="{88C07F4B-1DC1-A8C6-F0BA-F0A9CE7F717D}"/>
              </a:ext>
            </a:extLst>
          </p:cNvPr>
          <p:cNvSpPr txBox="1"/>
          <p:nvPr/>
        </p:nvSpPr>
        <p:spPr>
          <a:xfrm>
            <a:off x="2556524" y="3912393"/>
            <a:ext cx="13174951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could a minimal experiment be?</a:t>
            </a:r>
          </a:p>
        </p:txBody>
      </p:sp>
    </p:spTree>
    <p:extLst>
      <p:ext uri="{BB962C8B-B14F-4D97-AF65-F5344CB8AC3E}">
        <p14:creationId xmlns:p14="http://schemas.microsoft.com/office/powerpoint/2010/main" val="1305989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2E23F-E70E-05C9-7057-6AD76F6EB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54F612F-3B87-D0A9-9AB2-5F5CF98D3094}"/>
              </a:ext>
            </a:extLst>
          </p:cNvPr>
          <p:cNvGrpSpPr/>
          <p:nvPr/>
        </p:nvGrpSpPr>
        <p:grpSpPr>
          <a:xfrm rot="2101979">
            <a:off x="9691214" y="-1136688"/>
            <a:ext cx="11310585" cy="16178162"/>
            <a:chOff x="0" y="0"/>
            <a:chExt cx="2978919" cy="42609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C552861-1FB9-464E-78EA-250D90D7091D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solidFill>
              <a:srgbClr val="CE0F69"/>
            </a:solidFill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9DB7290-EE77-2295-1971-90FE43134FDD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52" name="Afbeelding 51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2CAF6274-0D16-8D24-C45A-2C59C9525A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0" y="8917042"/>
            <a:ext cx="2057400" cy="402317"/>
          </a:xfrm>
          <a:prstGeom prst="rect">
            <a:avLst/>
          </a:prstGeom>
        </p:spPr>
      </p:pic>
      <p:sp>
        <p:nvSpPr>
          <p:cNvPr id="6" name="TextBox 45">
            <a:extLst>
              <a:ext uri="{FF2B5EF4-FFF2-40B4-BE49-F238E27FC236}">
                <a16:creationId xmlns:a16="http://schemas.microsoft.com/office/drawing/2014/main" id="{A94B59FD-9695-BC02-87EC-BCB58B986B3C}"/>
              </a:ext>
            </a:extLst>
          </p:cNvPr>
          <p:cNvSpPr txBox="1"/>
          <p:nvPr/>
        </p:nvSpPr>
        <p:spPr>
          <a:xfrm>
            <a:off x="1223120" y="948821"/>
            <a:ext cx="15695231" cy="1205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36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experiment</a:t>
            </a:r>
            <a:endParaRPr lang="en-US" sz="8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0F087C-E7D4-BE7A-3580-9935F90DD4F2}"/>
              </a:ext>
            </a:extLst>
          </p:cNvPr>
          <p:cNvSpPr txBox="1"/>
          <p:nvPr/>
        </p:nvSpPr>
        <p:spPr>
          <a:xfrm>
            <a:off x="1223120" y="2623220"/>
            <a:ext cx="137535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Context:</a:t>
            </a:r>
          </a:p>
          <a:p>
            <a:r>
              <a:rPr lang="en-GB" sz="4000" dirty="0">
                <a:solidFill>
                  <a:schemeClr val="bg1"/>
                </a:solidFill>
              </a:rPr>
              <a:t>Online system the buy concert tickets</a:t>
            </a:r>
            <a:br>
              <a:rPr lang="en-GB" sz="4000" dirty="0">
                <a:solidFill>
                  <a:schemeClr val="bg1"/>
                </a:solidFill>
              </a:rPr>
            </a:b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Fault injected:</a:t>
            </a: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The invoicing service has an outage</a:t>
            </a:r>
            <a:br>
              <a:rPr lang="en-GB" sz="4000" dirty="0">
                <a:solidFill>
                  <a:schemeClr val="bg1"/>
                </a:solidFill>
              </a:rPr>
            </a:b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Success conditions:</a:t>
            </a:r>
          </a:p>
          <a:p>
            <a:r>
              <a:rPr lang="en-GB" sz="4000" dirty="0">
                <a:solidFill>
                  <a:schemeClr val="bg1"/>
                </a:solidFill>
              </a:rPr>
              <a:t> - When the service is back online every invoice is sent</a:t>
            </a:r>
          </a:p>
          <a:p>
            <a:r>
              <a:rPr lang="en-GB" sz="4000" dirty="0">
                <a:solidFill>
                  <a:schemeClr val="bg1"/>
                </a:solidFill>
              </a:rPr>
              <a:t> - No duplicate invoices are sent</a:t>
            </a:r>
          </a:p>
        </p:txBody>
      </p:sp>
    </p:spTree>
    <p:extLst>
      <p:ext uri="{BB962C8B-B14F-4D97-AF65-F5344CB8AC3E}">
        <p14:creationId xmlns:p14="http://schemas.microsoft.com/office/powerpoint/2010/main" val="2623394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C6FA4-F531-465E-6696-087261948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0007700-8281-F7AC-1CFA-1F9007CA10E9}"/>
              </a:ext>
            </a:extLst>
          </p:cNvPr>
          <p:cNvGrpSpPr/>
          <p:nvPr/>
        </p:nvGrpSpPr>
        <p:grpSpPr>
          <a:xfrm rot="2101979">
            <a:off x="9691214" y="-1136688"/>
            <a:ext cx="11310585" cy="16178162"/>
            <a:chOff x="0" y="0"/>
            <a:chExt cx="2978919" cy="42609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3E8C672-5D72-9AB8-B849-D6994155B03C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solidFill>
              <a:srgbClr val="CE0F69"/>
            </a:solidFill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D736C4F-93C2-62FB-5568-F5F50834F4F0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52" name="Afbeelding 51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5B6F4978-E763-0B60-A539-9CDBC266D9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0" y="8917042"/>
            <a:ext cx="2057400" cy="402317"/>
          </a:xfrm>
          <a:prstGeom prst="rect">
            <a:avLst/>
          </a:prstGeom>
        </p:spPr>
      </p:pic>
      <p:sp>
        <p:nvSpPr>
          <p:cNvPr id="6" name="TextBox 45">
            <a:extLst>
              <a:ext uri="{FF2B5EF4-FFF2-40B4-BE49-F238E27FC236}">
                <a16:creationId xmlns:a16="http://schemas.microsoft.com/office/drawing/2014/main" id="{51CDFB2F-EA2E-B2DE-C9CF-877089C844AD}"/>
              </a:ext>
            </a:extLst>
          </p:cNvPr>
          <p:cNvSpPr txBox="1"/>
          <p:nvPr/>
        </p:nvSpPr>
        <p:spPr>
          <a:xfrm>
            <a:off x="1223120" y="948821"/>
            <a:ext cx="15695231" cy="1205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36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experiment</a:t>
            </a:r>
            <a:endParaRPr lang="en-US" sz="8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7BB320-5467-93B0-D40B-01A4F9E68EF2}"/>
              </a:ext>
            </a:extLst>
          </p:cNvPr>
          <p:cNvSpPr txBox="1"/>
          <p:nvPr/>
        </p:nvSpPr>
        <p:spPr>
          <a:xfrm>
            <a:off x="1223120" y="2623220"/>
            <a:ext cx="13753528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Context:</a:t>
            </a:r>
          </a:p>
          <a:p>
            <a:r>
              <a:rPr lang="en-GB" sz="4000" dirty="0">
                <a:solidFill>
                  <a:schemeClr val="bg1"/>
                </a:solidFill>
              </a:rPr>
              <a:t>Online system the buy concert tickets</a:t>
            </a: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Hosted in West Europe and North Europe</a:t>
            </a:r>
            <a:br>
              <a:rPr lang="en-GB" sz="4000" dirty="0">
                <a:solidFill>
                  <a:schemeClr val="bg1"/>
                </a:solidFill>
              </a:rPr>
            </a:b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Fault injected:</a:t>
            </a: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Service to buy tickets has an outage in West Europe</a:t>
            </a:r>
            <a:br>
              <a:rPr lang="en-GB" sz="4000" dirty="0">
                <a:solidFill>
                  <a:schemeClr val="bg1"/>
                </a:solidFill>
              </a:rPr>
            </a:b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Success conditions:</a:t>
            </a:r>
          </a:p>
          <a:p>
            <a:r>
              <a:rPr lang="en-GB" sz="4000" dirty="0">
                <a:solidFill>
                  <a:schemeClr val="bg1"/>
                </a:solidFill>
              </a:rPr>
              <a:t> - All requests are redirected to North Europe</a:t>
            </a:r>
          </a:p>
          <a:p>
            <a:r>
              <a:rPr lang="en-GB" sz="4000" dirty="0">
                <a:solidFill>
                  <a:schemeClr val="bg1"/>
                </a:solidFill>
              </a:rPr>
              <a:t> - At least 95% of requests are successful</a:t>
            </a:r>
          </a:p>
          <a:p>
            <a:r>
              <a:rPr lang="en-GB" sz="4000" dirty="0">
                <a:solidFill>
                  <a:schemeClr val="bg1"/>
                </a:solidFill>
              </a:rPr>
              <a:t> - At least 95% of requests complete within 1 second</a:t>
            </a:r>
          </a:p>
          <a:p>
            <a:endParaRPr lang="en-GB" sz="4000" dirty="0">
              <a:solidFill>
                <a:schemeClr val="bg1"/>
              </a:solidFill>
            </a:endParaRPr>
          </a:p>
          <a:p>
            <a:endParaRPr lang="en-GB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240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D8F48E-A285-5112-738D-C27C06AD4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3D55720-39C2-97F1-D486-DFB90B9B5DA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2101979">
            <a:off x="9691214" y="-1136688"/>
            <a:ext cx="11310585" cy="16178162"/>
            <a:chOff x="0" y="0"/>
            <a:chExt cx="2978919" cy="42609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E54F9C0-E9BE-D095-09B8-EE96703513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solidFill>
              <a:srgbClr val="CE0F69"/>
            </a:solidFill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3D0AC16-2C71-A6E6-5277-9A1D842F0A0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sp>
        <p:nvSpPr>
          <p:cNvPr id="45" name="TextBox 45">
            <a:extLst>
              <a:ext uri="{FF2B5EF4-FFF2-40B4-BE49-F238E27FC236}">
                <a16:creationId xmlns:a16="http://schemas.microsoft.com/office/drawing/2014/main" id="{1A90D479-06F5-9377-4052-25B932DCCF5C}"/>
              </a:ext>
            </a:extLst>
          </p:cNvPr>
          <p:cNvSpPr txBox="1"/>
          <p:nvPr/>
        </p:nvSpPr>
        <p:spPr>
          <a:xfrm>
            <a:off x="1296383" y="2119164"/>
            <a:ext cx="15695231" cy="1205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in Azure</a:t>
            </a:r>
            <a:endParaRPr lang="en-US" sz="8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2" name="Afbeelding 51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C731C5DE-4177-6A31-9EA2-99462693AB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0" y="8917042"/>
            <a:ext cx="2057400" cy="402317"/>
          </a:xfrm>
          <a:prstGeom prst="rect">
            <a:avLst/>
          </a:prstGeom>
        </p:spPr>
      </p:pic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9BC9736B-3749-183A-6910-E5AFA565A1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1273" y="4148125"/>
            <a:ext cx="3083608" cy="3083608"/>
          </a:xfrm>
          <a:prstGeom prst="rect">
            <a:avLst/>
          </a:prstGeom>
        </p:spPr>
      </p:pic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AA0FB954-04DC-CE2D-77C0-5C32903018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60224" y="4069749"/>
            <a:ext cx="3240360" cy="3240360"/>
          </a:xfrm>
          <a:prstGeom prst="rect">
            <a:avLst/>
          </a:prstGeom>
        </p:spPr>
      </p:pic>
      <p:sp>
        <p:nvSpPr>
          <p:cNvPr id="10" name="TextBox 45">
            <a:extLst>
              <a:ext uri="{FF2B5EF4-FFF2-40B4-BE49-F238E27FC236}">
                <a16:creationId xmlns:a16="http://schemas.microsoft.com/office/drawing/2014/main" id="{77BD449F-1FF8-29BD-412F-8380EF722643}"/>
              </a:ext>
            </a:extLst>
          </p:cNvPr>
          <p:cNvSpPr txBox="1"/>
          <p:nvPr/>
        </p:nvSpPr>
        <p:spPr>
          <a:xfrm>
            <a:off x="10512152" y="7602709"/>
            <a:ext cx="4824536" cy="10665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GB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Azure load testing</a:t>
            </a:r>
            <a:endParaRPr lang="en-US" sz="4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45">
            <a:extLst>
              <a:ext uri="{FF2B5EF4-FFF2-40B4-BE49-F238E27FC236}">
                <a16:creationId xmlns:a16="http://schemas.microsoft.com/office/drawing/2014/main" id="{4FA1E6AD-D3B1-450E-5928-C1F010DD141A}"/>
              </a:ext>
            </a:extLst>
          </p:cNvPr>
          <p:cNvSpPr txBox="1"/>
          <p:nvPr/>
        </p:nvSpPr>
        <p:spPr>
          <a:xfrm>
            <a:off x="1799184" y="7604907"/>
            <a:ext cx="7137175" cy="1086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360"/>
              </a:lnSpc>
            </a:pPr>
            <a:r>
              <a:rPr lang="en-GB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Azure Chaos Studio</a:t>
            </a:r>
            <a:endParaRPr lang="en-US" sz="4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093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2596A9-7179-0502-D0C2-AB8CC9A8A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6457B81-B20C-AB82-8CFF-67CE3C4345A2}"/>
              </a:ext>
            </a:extLst>
          </p:cNvPr>
          <p:cNvGrpSpPr/>
          <p:nvPr/>
        </p:nvGrpSpPr>
        <p:grpSpPr>
          <a:xfrm rot="2101979">
            <a:off x="9691214" y="-1136688"/>
            <a:ext cx="11310585" cy="16178162"/>
            <a:chOff x="0" y="0"/>
            <a:chExt cx="2978919" cy="42609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F0013BB-9484-A22F-B9A3-A434FB98FF5F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solidFill>
              <a:srgbClr val="CE0F69"/>
            </a:solidFill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CF63C3-07B0-7F5F-2A4C-6823BE5A232B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52" name="Afbeelding 51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3089B703-1E8A-23A2-9AF9-0235D6D6B4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0" y="8917042"/>
            <a:ext cx="2057400" cy="402317"/>
          </a:xfrm>
          <a:prstGeom prst="rect">
            <a:avLst/>
          </a:prstGeom>
        </p:spPr>
      </p:pic>
      <p:sp>
        <p:nvSpPr>
          <p:cNvPr id="6" name="TextBox 45">
            <a:extLst>
              <a:ext uri="{FF2B5EF4-FFF2-40B4-BE49-F238E27FC236}">
                <a16:creationId xmlns:a16="http://schemas.microsoft.com/office/drawing/2014/main" id="{EE8CC830-BFF1-50EA-1D1D-0B0C10A0CB2A}"/>
              </a:ext>
            </a:extLst>
          </p:cNvPr>
          <p:cNvSpPr txBox="1"/>
          <p:nvPr/>
        </p:nvSpPr>
        <p:spPr>
          <a:xfrm>
            <a:off x="1223120" y="948821"/>
            <a:ext cx="15695231" cy="1205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36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Risks</a:t>
            </a:r>
            <a:endParaRPr lang="en-US" sz="8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28E69-95B3-B2D0-6A61-B30CAB4062AD}"/>
              </a:ext>
            </a:extLst>
          </p:cNvPr>
          <p:cNvSpPr txBox="1"/>
          <p:nvPr/>
        </p:nvSpPr>
        <p:spPr>
          <a:xfrm>
            <a:off x="1223120" y="2623220"/>
            <a:ext cx="13753528" cy="3690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chemeClr val="bg1"/>
                </a:solidFill>
              </a:rPr>
              <a:t>Real failures are injected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chemeClr val="bg1"/>
                </a:solidFill>
              </a:rPr>
              <a:t>Experiments on can impact customers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chemeClr val="bg1"/>
                </a:solidFill>
              </a:rPr>
              <a:t>Unexpected dependencies causing a bigger failure than expected</a:t>
            </a:r>
            <a:endParaRPr lang="en-NL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618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66921E-DD9B-D393-7AF2-6C9483FF1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E1E6702-83CA-FED9-36CD-0FD37256E8D8}"/>
              </a:ext>
            </a:extLst>
          </p:cNvPr>
          <p:cNvGrpSpPr/>
          <p:nvPr/>
        </p:nvGrpSpPr>
        <p:grpSpPr>
          <a:xfrm rot="2101979">
            <a:off x="9691214" y="-1136688"/>
            <a:ext cx="11310585" cy="16178162"/>
            <a:chOff x="0" y="0"/>
            <a:chExt cx="2978919" cy="42609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4F7BBE4-4C34-27F3-C967-B33C01FA4719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solidFill>
              <a:srgbClr val="CE0F69"/>
            </a:solidFill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7A082C2-9B59-9352-7890-6BD23F7FC8CC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52" name="Afbeelding 51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391DBFC5-F383-EF75-1823-58D035D93C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0" y="8917042"/>
            <a:ext cx="2057400" cy="402317"/>
          </a:xfrm>
          <a:prstGeom prst="rect">
            <a:avLst/>
          </a:prstGeom>
        </p:spPr>
      </p:pic>
      <p:sp>
        <p:nvSpPr>
          <p:cNvPr id="6" name="TextBox 45">
            <a:extLst>
              <a:ext uri="{FF2B5EF4-FFF2-40B4-BE49-F238E27FC236}">
                <a16:creationId xmlns:a16="http://schemas.microsoft.com/office/drawing/2014/main" id="{6F1B9667-59F2-4213-694E-CBE460AC8CC8}"/>
              </a:ext>
            </a:extLst>
          </p:cNvPr>
          <p:cNvSpPr txBox="1"/>
          <p:nvPr/>
        </p:nvSpPr>
        <p:spPr>
          <a:xfrm>
            <a:off x="1223120" y="948821"/>
            <a:ext cx="15695231" cy="1205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36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Reducing risk</a:t>
            </a:r>
            <a:endParaRPr lang="en-US" sz="8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D2F914-CDE5-CC42-05B8-37ED562AD103}"/>
              </a:ext>
            </a:extLst>
          </p:cNvPr>
          <p:cNvSpPr txBox="1"/>
          <p:nvPr/>
        </p:nvSpPr>
        <p:spPr>
          <a:xfrm>
            <a:off x="1223120" y="2623220"/>
            <a:ext cx="13753528" cy="5536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chemeClr val="bg1"/>
                </a:solidFill>
              </a:rPr>
              <a:t>Do not start on production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chemeClr val="bg1"/>
                </a:solidFill>
              </a:rPr>
              <a:t>Have a way to stop an experiment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chemeClr val="bg1"/>
                </a:solidFill>
              </a:rPr>
              <a:t>Monitor the experiment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chemeClr val="bg1"/>
                </a:solidFill>
              </a:rPr>
              <a:t>Minimal permissions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chemeClr val="bg1"/>
                </a:solidFill>
              </a:rPr>
              <a:t>Start with small experiments and minimize the blast radius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chemeClr val="bg1"/>
                </a:solidFill>
              </a:rPr>
              <a:t>Communicate beforehand</a:t>
            </a:r>
            <a:endParaRPr lang="en-NL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575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BA4E39-38C4-E333-347E-C060FA0CF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9A11EB5-16E7-FC6B-FE5A-E9D1C806E50B}"/>
              </a:ext>
            </a:extLst>
          </p:cNvPr>
          <p:cNvGrpSpPr/>
          <p:nvPr/>
        </p:nvGrpSpPr>
        <p:grpSpPr>
          <a:xfrm rot="19498021" flipH="1">
            <a:off x="-2705696" y="-1136688"/>
            <a:ext cx="11310585" cy="16178162"/>
            <a:chOff x="0" y="0"/>
            <a:chExt cx="2978919" cy="4260915"/>
          </a:xfrm>
          <a:solidFill>
            <a:srgbClr val="1E22AA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75C07C5-8E4C-FAEB-7F29-76CEAF8D7F45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C19B253-3887-B078-1439-5D29713E0E35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5" name="Afbeelding 4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964DF810-4C4E-0A8D-1ADD-71F17C8ADF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069442"/>
            <a:ext cx="2057400" cy="402317"/>
          </a:xfrm>
          <a:prstGeom prst="rect">
            <a:avLst/>
          </a:prstGeom>
        </p:spPr>
      </p:pic>
      <p:sp>
        <p:nvSpPr>
          <p:cNvPr id="7" name="TextBox 45">
            <a:extLst>
              <a:ext uri="{FF2B5EF4-FFF2-40B4-BE49-F238E27FC236}">
                <a16:creationId xmlns:a16="http://schemas.microsoft.com/office/drawing/2014/main" id="{268CFA43-DB74-0969-05A5-42535AA6A9BC}"/>
              </a:ext>
            </a:extLst>
          </p:cNvPr>
          <p:cNvSpPr txBox="1"/>
          <p:nvPr/>
        </p:nvSpPr>
        <p:spPr>
          <a:xfrm>
            <a:off x="2556524" y="4540771"/>
            <a:ext cx="13174951" cy="1205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752949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99965-85A8-5E6E-3925-0BD41A08E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41E44F24-1218-9877-9978-3C83B87BCC59}"/>
              </a:ext>
            </a:extLst>
          </p:cNvPr>
          <p:cNvGrpSpPr/>
          <p:nvPr/>
        </p:nvGrpSpPr>
        <p:grpSpPr>
          <a:xfrm rot="19498021" flipH="1">
            <a:off x="-2705696" y="-1136688"/>
            <a:ext cx="11310585" cy="16178162"/>
            <a:chOff x="0" y="0"/>
            <a:chExt cx="2978919" cy="4260915"/>
          </a:xfrm>
          <a:solidFill>
            <a:srgbClr val="1E22AA"/>
          </a:solidFill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33A9623F-EC10-865C-C4C1-B2A254D1594F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14" name="TextBox 4">
              <a:extLst>
                <a:ext uri="{FF2B5EF4-FFF2-40B4-BE49-F238E27FC236}">
                  <a16:creationId xmlns:a16="http://schemas.microsoft.com/office/drawing/2014/main" id="{351D0D6B-119B-F343-C92E-995928FD27FA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AF417A50-AD75-F6FF-C4F4-92A5DAA89C81}"/>
              </a:ext>
            </a:extLst>
          </p:cNvPr>
          <p:cNvSpPr txBox="1"/>
          <p:nvPr/>
        </p:nvSpPr>
        <p:spPr>
          <a:xfrm rot="2101979">
            <a:off x="9722355" y="-1235355"/>
            <a:ext cx="11310585" cy="1628665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39"/>
              </a:lnSpc>
            </a:pPr>
            <a:endParaRPr dirty="0">
              <a:latin typeface="Calibri" panose="020F0502020204030204" pitchFamily="34" charset="0"/>
            </a:endParaRPr>
          </a:p>
        </p:txBody>
      </p:sp>
      <p:sp>
        <p:nvSpPr>
          <p:cNvPr id="6" name="TextBox 45">
            <a:extLst>
              <a:ext uri="{FF2B5EF4-FFF2-40B4-BE49-F238E27FC236}">
                <a16:creationId xmlns:a16="http://schemas.microsoft.com/office/drawing/2014/main" id="{390FFD17-3D0F-08FE-BD4E-C375680899C3}"/>
              </a:ext>
            </a:extLst>
          </p:cNvPr>
          <p:cNvSpPr txBox="1"/>
          <p:nvPr/>
        </p:nvSpPr>
        <p:spPr>
          <a:xfrm>
            <a:off x="2933938" y="4540771"/>
            <a:ext cx="12420124" cy="1205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Let’s create an experiment</a:t>
            </a:r>
            <a:endParaRPr lang="en-US" sz="8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0FD63E-68C2-8E20-7AFC-FC2538999A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15608" y="2424314"/>
            <a:ext cx="7275804" cy="6643829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3CF13C46-D0F7-B198-C063-9F1F34925291}"/>
              </a:ext>
            </a:extLst>
          </p:cNvPr>
          <p:cNvSpPr/>
          <p:nvPr/>
        </p:nvSpPr>
        <p:spPr>
          <a:xfrm>
            <a:off x="7999471" y="5359524"/>
            <a:ext cx="2289058" cy="1872208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NL">
              <a:ln>
                <a:solidFill>
                  <a:srgbClr val="FF0000"/>
                </a:solidFill>
              </a:ln>
              <a:noFill/>
            </a:endParaRPr>
          </a:p>
        </p:txBody>
      </p:sp>
      <p:pic>
        <p:nvPicPr>
          <p:cNvPr id="16" name="Afbeelding 4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AEB236B4-B485-78B4-4E29-066485928B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069442"/>
            <a:ext cx="2057400" cy="40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780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3596 " pathEditMode="fixed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680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8F93C8-EABD-A64D-5468-9AB74202A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E2F4C01-AA2B-A768-1C47-31A257BB5B7B}"/>
              </a:ext>
            </a:extLst>
          </p:cNvPr>
          <p:cNvGrpSpPr/>
          <p:nvPr/>
        </p:nvGrpSpPr>
        <p:grpSpPr>
          <a:xfrm rot="2101979">
            <a:off x="9691214" y="-1136688"/>
            <a:ext cx="11310585" cy="16178162"/>
            <a:chOff x="0" y="0"/>
            <a:chExt cx="2978919" cy="42609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4184946-EFAC-AC95-1FA7-922812BCEAF4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solidFill>
              <a:srgbClr val="CE0F69"/>
            </a:solidFill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AED5A6E-4442-D0D2-0D59-D94B14327CC2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52" name="Afbeelding 51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5561D766-DEF0-561C-CDCB-FAAFFC74A1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0" y="8917042"/>
            <a:ext cx="2057400" cy="402317"/>
          </a:xfrm>
          <a:prstGeom prst="rect">
            <a:avLst/>
          </a:prstGeom>
        </p:spPr>
      </p:pic>
      <p:sp>
        <p:nvSpPr>
          <p:cNvPr id="6" name="TextBox 45">
            <a:extLst>
              <a:ext uri="{FF2B5EF4-FFF2-40B4-BE49-F238E27FC236}">
                <a16:creationId xmlns:a16="http://schemas.microsoft.com/office/drawing/2014/main" id="{CA29D5FA-5DBB-C578-EE38-AAFF304B1EED}"/>
              </a:ext>
            </a:extLst>
          </p:cNvPr>
          <p:cNvSpPr txBox="1"/>
          <p:nvPr/>
        </p:nvSpPr>
        <p:spPr>
          <a:xfrm>
            <a:off x="1223120" y="948821"/>
            <a:ext cx="17641960" cy="2410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36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 think you should consider chaos engineering</a:t>
            </a:r>
            <a:endParaRPr lang="en-US" sz="8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5B235E-45D1-6E8E-306E-383D38F38BD3}"/>
              </a:ext>
            </a:extLst>
          </p:cNvPr>
          <p:cNvSpPr txBox="1"/>
          <p:nvPr/>
        </p:nvSpPr>
        <p:spPr>
          <a:xfrm>
            <a:off x="1223120" y="3703340"/>
            <a:ext cx="13753528" cy="276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chemeClr val="bg1"/>
                </a:solidFill>
              </a:rPr>
              <a:t>Identify problems before an actual outage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chemeClr val="bg1"/>
                </a:solidFill>
              </a:rPr>
              <a:t>Know how the system behaves when things go wrong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chemeClr val="bg1"/>
                </a:solidFill>
              </a:rPr>
              <a:t>Getting confidence in the resilience of the system</a:t>
            </a:r>
          </a:p>
        </p:txBody>
      </p:sp>
    </p:spTree>
    <p:extLst>
      <p:ext uri="{BB962C8B-B14F-4D97-AF65-F5344CB8AC3E}">
        <p14:creationId xmlns:p14="http://schemas.microsoft.com/office/powerpoint/2010/main" val="32568493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BAD035-25EF-8E42-F5E2-FFF834B1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10100CC-9CEF-CBD5-BA48-77B331D81755}"/>
              </a:ext>
            </a:extLst>
          </p:cNvPr>
          <p:cNvGrpSpPr/>
          <p:nvPr/>
        </p:nvGrpSpPr>
        <p:grpSpPr>
          <a:xfrm rot="2101979">
            <a:off x="9691214" y="-1136688"/>
            <a:ext cx="11310585" cy="16178162"/>
            <a:chOff x="0" y="0"/>
            <a:chExt cx="2978919" cy="42609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534ADC5-FE33-77AF-A86F-3A8A6C0C3047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solidFill>
              <a:srgbClr val="CE0F69"/>
            </a:solidFill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2FB5A76-9A84-DC23-3FCB-28D8986B69F7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52" name="Afbeelding 51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131713E7-D22C-2290-A38B-65ADF32884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0" y="8917042"/>
            <a:ext cx="2057400" cy="402317"/>
          </a:xfrm>
          <a:prstGeom prst="rect">
            <a:avLst/>
          </a:prstGeom>
        </p:spPr>
      </p:pic>
      <p:sp>
        <p:nvSpPr>
          <p:cNvPr id="6" name="TextBox 45">
            <a:extLst>
              <a:ext uri="{FF2B5EF4-FFF2-40B4-BE49-F238E27FC236}">
                <a16:creationId xmlns:a16="http://schemas.microsoft.com/office/drawing/2014/main" id="{BE32A31D-D1CE-B892-6CEA-838657696183}"/>
              </a:ext>
            </a:extLst>
          </p:cNvPr>
          <p:cNvSpPr txBox="1"/>
          <p:nvPr/>
        </p:nvSpPr>
        <p:spPr>
          <a:xfrm>
            <a:off x="1223120" y="948821"/>
            <a:ext cx="17641960" cy="2410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360"/>
              </a:lnSpc>
            </a:pPr>
            <a:r>
              <a:rPr lang="en-GB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do you want to find out if your emergency plan works?</a:t>
            </a:r>
            <a:endParaRPr lang="en-US" sz="8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5FFBF3A-5145-E7B9-E56F-4DC446DAC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775" y="3791943"/>
            <a:ext cx="7942449" cy="5600029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946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0F16D2-6D04-7B2D-84DF-0CB58FA68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8512C93-A646-D7D9-59CA-C39A711BE0BE}"/>
              </a:ext>
            </a:extLst>
          </p:cNvPr>
          <p:cNvGrpSpPr/>
          <p:nvPr/>
        </p:nvGrpSpPr>
        <p:grpSpPr>
          <a:xfrm rot="19498021" flipH="1">
            <a:off x="-2705696" y="-1136688"/>
            <a:ext cx="11310585" cy="16178162"/>
            <a:chOff x="0" y="0"/>
            <a:chExt cx="2978919" cy="4260915"/>
          </a:xfrm>
          <a:solidFill>
            <a:srgbClr val="1E22AA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6C34B07-701E-7D62-5CAD-9E14DE55DDB0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FB66D1A-F29D-CE8E-40FD-3224F58FD4F3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pic>
        <p:nvPicPr>
          <p:cNvPr id="5" name="Afbeelding 4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7FB54040-ABB8-63A2-5CC7-7A817D72E8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069442"/>
            <a:ext cx="2057400" cy="402317"/>
          </a:xfrm>
          <a:prstGeom prst="rect">
            <a:avLst/>
          </a:prstGeom>
        </p:spPr>
      </p:pic>
      <p:sp>
        <p:nvSpPr>
          <p:cNvPr id="7" name="TextBox 45">
            <a:extLst>
              <a:ext uri="{FF2B5EF4-FFF2-40B4-BE49-F238E27FC236}">
                <a16:creationId xmlns:a16="http://schemas.microsoft.com/office/drawing/2014/main" id="{EB153C3B-9269-A438-15FA-B93A26D556E4}"/>
              </a:ext>
            </a:extLst>
          </p:cNvPr>
          <p:cNvSpPr txBox="1"/>
          <p:nvPr/>
        </p:nvSpPr>
        <p:spPr>
          <a:xfrm>
            <a:off x="2556524" y="4540771"/>
            <a:ext cx="13174951" cy="1205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9534159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735EA8-C132-72C0-46A7-6FA2073F0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4A3CD47-F10F-E393-FA25-A84353DE6781}"/>
              </a:ext>
            </a:extLst>
          </p:cNvPr>
          <p:cNvGrpSpPr/>
          <p:nvPr/>
        </p:nvGrpSpPr>
        <p:grpSpPr>
          <a:xfrm rot="19498021" flipH="1">
            <a:off x="-2705696" y="-1136688"/>
            <a:ext cx="11310585" cy="16178162"/>
            <a:chOff x="0" y="0"/>
            <a:chExt cx="2978919" cy="4260915"/>
          </a:xfrm>
          <a:solidFill>
            <a:srgbClr val="1E22AA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C35F606-4E6B-E6DC-994D-8AA18FDB4FD9}"/>
                </a:ext>
              </a:extLst>
            </p:cNvPr>
            <p:cNvSpPr/>
            <p:nvPr/>
          </p:nvSpPr>
          <p:spPr>
            <a:xfrm>
              <a:off x="0" y="0"/>
              <a:ext cx="2978919" cy="4260915"/>
            </a:xfrm>
            <a:custGeom>
              <a:avLst/>
              <a:gdLst/>
              <a:ahLst/>
              <a:cxnLst/>
              <a:rect l="l" t="t" r="r" b="b"/>
              <a:pathLst>
                <a:path w="2978919" h="4260915">
                  <a:moveTo>
                    <a:pt x="0" y="0"/>
                  </a:moveTo>
                  <a:lnTo>
                    <a:pt x="2978919" y="0"/>
                  </a:lnTo>
                  <a:lnTo>
                    <a:pt x="2978919" y="4260915"/>
                  </a:lnTo>
                  <a:lnTo>
                    <a:pt x="0" y="426091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 dirty="0">
                <a:latin typeface="Calibri" panose="020F0502020204030204" pitchFamily="34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70D9606-9595-3BC0-FDA2-68CAD865BC36}"/>
                </a:ext>
              </a:extLst>
            </p:cNvPr>
            <p:cNvSpPr txBox="1"/>
            <p:nvPr/>
          </p:nvSpPr>
          <p:spPr>
            <a:xfrm>
              <a:off x="0" y="-28575"/>
              <a:ext cx="2978919" cy="42894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 dirty="0">
                <a:latin typeface="Calibri" panose="020F0502020204030204" pitchFamily="34" charset="0"/>
              </a:endParaRPr>
            </a:p>
          </p:txBody>
        </p:sp>
      </p:grpSp>
      <p:sp>
        <p:nvSpPr>
          <p:cNvPr id="45" name="TextBox 45">
            <a:extLst>
              <a:ext uri="{FF2B5EF4-FFF2-40B4-BE49-F238E27FC236}">
                <a16:creationId xmlns:a16="http://schemas.microsoft.com/office/drawing/2014/main" id="{FC350DF2-DFC8-C539-A896-012548C6273F}"/>
              </a:ext>
            </a:extLst>
          </p:cNvPr>
          <p:cNvSpPr txBox="1"/>
          <p:nvPr/>
        </p:nvSpPr>
        <p:spPr>
          <a:xfrm>
            <a:off x="9221289" y="1902554"/>
            <a:ext cx="7923711" cy="1205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360"/>
              </a:lnSpc>
            </a:pPr>
            <a:r>
              <a:rPr lang="en-US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F7C79985-432B-51C7-9C12-D143C749330E}"/>
              </a:ext>
            </a:extLst>
          </p:cNvPr>
          <p:cNvSpPr txBox="1"/>
          <p:nvPr/>
        </p:nvSpPr>
        <p:spPr>
          <a:xfrm>
            <a:off x="11841711" y="8918755"/>
            <a:ext cx="5288049" cy="350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https://www.linkedin.com/in/martijn-van-arkel/</a:t>
            </a:r>
          </a:p>
        </p:txBody>
      </p:sp>
      <p:pic>
        <p:nvPicPr>
          <p:cNvPr id="5" name="Afbeelding 4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533E86CF-3434-1776-FFA8-353AA30E27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069442"/>
            <a:ext cx="2057400" cy="402317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58ACDDB6-05AA-4462-F4E0-DDB5821F6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1728" y="1303436"/>
            <a:ext cx="6408420" cy="6408420"/>
          </a:xfrm>
          <a:prstGeom prst="flowChartConnector">
            <a:avLst/>
          </a:prstGeom>
          <a:ln w="28575">
            <a:solidFill>
              <a:schemeClr val="bg1"/>
            </a:solidFill>
          </a:ln>
        </p:spPr>
      </p:pic>
      <p:pic>
        <p:nvPicPr>
          <p:cNvPr id="44" name="Afbeelding 43" descr="Afbeelding met logo, Graphics, schermopname, symbool&#10;&#10;Door AI gegenereerde inhoud is mogelijk onjuist.">
            <a:extLst>
              <a:ext uri="{FF2B5EF4-FFF2-40B4-BE49-F238E27FC236}">
                <a16:creationId xmlns:a16="http://schemas.microsoft.com/office/drawing/2014/main" id="{4ABDE297-6F7B-DF87-BD17-8E023F2D0C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56" y="8874108"/>
            <a:ext cx="439325" cy="439325"/>
          </a:xfrm>
          <a:prstGeom prst="rect">
            <a:avLst/>
          </a:prstGeom>
        </p:spPr>
      </p:pic>
      <p:sp>
        <p:nvSpPr>
          <p:cNvPr id="58" name="TextBox 47">
            <a:extLst>
              <a:ext uri="{FF2B5EF4-FFF2-40B4-BE49-F238E27FC236}">
                <a16:creationId xmlns:a16="http://schemas.microsoft.com/office/drawing/2014/main" id="{86C56870-18DC-17F3-D99A-9B468BC13C96}"/>
              </a:ext>
            </a:extLst>
          </p:cNvPr>
          <p:cNvSpPr txBox="1"/>
          <p:nvPr/>
        </p:nvSpPr>
        <p:spPr>
          <a:xfrm rot="2211853">
            <a:off x="2385938" y="845201"/>
            <a:ext cx="7200000" cy="7200000"/>
          </a:xfrm>
          <a:prstGeom prst="rect">
            <a:avLst/>
          </a:prstGeom>
        </p:spPr>
        <p:txBody>
          <a:bodyPr wrap="square" lIns="0" tIns="0" rIns="0" bIns="0" rtlCol="0" anchor="t">
            <a:prstTxWarp prst="textArchDown">
              <a:avLst/>
            </a:prstTxWarp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m.vanarkel@4DotNet.nl		www.4dotnet.nl</a:t>
            </a:r>
          </a:p>
        </p:txBody>
      </p:sp>
      <p:sp>
        <p:nvSpPr>
          <p:cNvPr id="7" name="TextBox 45">
            <a:extLst>
              <a:ext uri="{FF2B5EF4-FFF2-40B4-BE49-F238E27FC236}">
                <a16:creationId xmlns:a16="http://schemas.microsoft.com/office/drawing/2014/main" id="{01F49F05-E31A-7CDA-1406-D4F4C0D3D14B}"/>
              </a:ext>
            </a:extLst>
          </p:cNvPr>
          <p:cNvSpPr txBox="1"/>
          <p:nvPr/>
        </p:nvSpPr>
        <p:spPr>
          <a:xfrm>
            <a:off x="12861585" y="7814868"/>
            <a:ext cx="4317205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and slides</a:t>
            </a:r>
            <a:endParaRPr lang="en-US" sz="4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31A0F9B1-3223-C79D-A760-2B52D6DC24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3291" y="3343300"/>
            <a:ext cx="4133120" cy="413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1967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Kantoorthema">
  <a:themeElements>
    <a:clrScheme name="Aangepast 1">
      <a:dk1>
        <a:sysClr val="windowText" lastClr="000000"/>
      </a:dk1>
      <a:lt1>
        <a:sysClr val="window" lastClr="FFFFFF"/>
      </a:lt1>
      <a:dk2>
        <a:srgbClr val="1E22AA"/>
      </a:dk2>
      <a:lt2>
        <a:srgbClr val="CE0F69"/>
      </a:lt2>
      <a:accent1>
        <a:srgbClr val="1E22AA"/>
      </a:accent1>
      <a:accent2>
        <a:srgbClr val="CE0F69"/>
      </a:accent2>
      <a:accent3>
        <a:srgbClr val="FFFFFF"/>
      </a:accent3>
      <a:accent4>
        <a:srgbClr val="000000"/>
      </a:accent4>
      <a:accent5>
        <a:srgbClr val="595959"/>
      </a:accent5>
      <a:accent6>
        <a:srgbClr val="A5A5A5"/>
      </a:accent6>
      <a:hlink>
        <a:srgbClr val="D8D8D8"/>
      </a:hlink>
      <a:folHlink>
        <a:srgbClr val="FFFFFF"/>
      </a:folHlink>
    </a:clrScheme>
    <a:fontScheme name="Neuzeit">
      <a:majorFont>
        <a:latin typeface="Neuzeit S LT Std Book"/>
        <a:ea typeface=""/>
        <a:cs typeface=""/>
      </a:majorFont>
      <a:minorFont>
        <a:latin typeface="Neuzeit S LT Std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resentatie1" id="{81A43EAA-854F-4BDC-A53A-816DE31DAEDE}" vid="{3E365579-0DA9-4A43-86D0-9D17C3ADAE52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KH Document" ma:contentTypeID="0x010100BE884009E1AF4E4AA68748A5339F4A5900DDA8CE9F2A9C024DB7BC804F36BEE7A4" ma:contentTypeVersion="19" ma:contentTypeDescription="KH documenten" ma:contentTypeScope="" ma:versionID="700554c5503c9c5428096d10eb575058">
  <xsd:schema xmlns:xsd="http://www.w3.org/2001/XMLSchema" xmlns:xs="http://www.w3.org/2001/XMLSchema" xmlns:p="http://schemas.microsoft.com/office/2006/metadata/properties" xmlns:ns2="6bed5341-ebe3-454f-909f-36f044ec18c5" xmlns:ns3="4fa33c19-156f-4d53-8a37-f6529061f5c4" targetNamespace="http://schemas.microsoft.com/office/2006/metadata/properties" ma:root="true" ma:fieldsID="f47e900346f2cdaf892388de7c3f3071" ns2:_="" ns3:_="">
    <xsd:import namespace="6bed5341-ebe3-454f-909f-36f044ec18c5"/>
    <xsd:import namespace="4fa33c19-156f-4d53-8a37-f6529061f5c4"/>
    <xsd:element name="properties">
      <xsd:complexType>
        <xsd:sequence>
          <xsd:element name="documentManagement">
            <xsd:complexType>
              <xsd:all>
                <xsd:element ref="ns2:KMSRevisionDate" minOccurs="0"/>
                <xsd:element ref="ns2:KMSRole" minOccurs="0"/>
                <xsd:element ref="ns2:KMSDocType" minOccurs="0"/>
                <xsd:element ref="ns2:h297eec6a053455faa48274b79e8f120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ed5341-ebe3-454f-909f-36f044ec18c5" elementFormDefault="qualified">
    <xsd:import namespace="http://schemas.microsoft.com/office/2006/documentManagement/types"/>
    <xsd:import namespace="http://schemas.microsoft.com/office/infopath/2007/PartnerControls"/>
    <xsd:element name="KMSRevisionDate" ma:index="2" nillable="true" ma:displayName="Evaluatie Datum" ma:format="DateOnly" ma:internalName="KMSRevisionDate" ma:readOnly="false">
      <xsd:simpleType>
        <xsd:restriction base="dms:DateTime"/>
      </xsd:simpleType>
    </xsd:element>
    <xsd:element name="KMSRole" ma:index="3" nillable="true" ma:displayName="Eigenaar" ma:list="bd83d514-00d9-4b77-89ea-7a590d3a8c8c" ma:internalName="KMSRole0" ma:readOnly="false" ma:showField="Title">
      <xsd:simpleType>
        <xsd:restriction base="dms:Lookup"/>
      </xsd:simpleType>
    </xsd:element>
    <xsd:element name="KMSDocType" ma:index="9" nillable="true" ma:displayName="Informatietype" ma:format="Dropdown" ma:hidden="true" ma:internalName="KMSDocType" ma:readOnly="false">
      <xsd:simpleType>
        <xsd:restriction base="dms:Choice">
          <xsd:enumeration value="Proces"/>
          <xsd:enumeration value="Beleid"/>
          <xsd:enumeration value="Instructie"/>
          <xsd:enumeration value="Formulier"/>
          <xsd:enumeration value="Rapportage"/>
          <xsd:enumeration value="Voorwaarde"/>
          <xsd:enumeration value="Overeenkomst"/>
          <xsd:enumeration value="Reglement"/>
          <xsd:enumeration value="Protocol"/>
        </xsd:restriction>
      </xsd:simpleType>
    </xsd:element>
    <xsd:element name="h297eec6a053455faa48274b79e8f120" ma:index="11" nillable="true" ma:taxonomy="true" ma:internalName="h297eec6a053455faa48274b79e8f120" ma:taxonomyFieldName="KMSCategory" ma:displayName="Categorie" ma:readOnly="false" ma:fieldId="{1297eec6-a053-455f-aa48-274b79e8f120}" ma:sspId="9966b0b9-3a38-4fda-b081-d64468048e69" ma:termSetId="b5b15237-fc01-416f-acaf-7bc6d0fd8bf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2" nillable="true" ma:displayName="Taxonomy Catch All Column" ma:hidden="true" ma:list="{492ecff9-57e9-4396-aefb-866fc81fbaac}" ma:internalName="TaxCatchAll" ma:readOnly="false" ma:showField="CatchAllData" ma:web="6bed5341-ebe3-454f-909f-36f044ec18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3" nillable="true" ma:displayName="Taxonomy Catch All Column1" ma:hidden="true" ma:list="{492ecff9-57e9-4396-aefb-866fc81fbaac}" ma:internalName="TaxCatchAllLabel" ma:readOnly="false" ma:showField="CatchAllDataLabel" ma:web="6bed5341-ebe3-454f-909f-36f044ec18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a33c19-156f-4d53-8a37-f6529061f5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9966b0b9-3a38-4fda-b081-d64468048e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3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Inhoudstype"/>
        <xsd:element ref="dc:title" minOccurs="0" maxOccurs="1" ma:index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fa33c19-156f-4d53-8a37-f6529061f5c4">
      <Terms xmlns="http://schemas.microsoft.com/office/infopath/2007/PartnerControls"/>
    </lcf76f155ced4ddcb4097134ff3c332f>
    <TaxCatchAll xmlns="6bed5341-ebe3-454f-909f-36f044ec18c5" xsi:nil="true"/>
    <h297eec6a053455faa48274b79e8f120 xmlns="6bed5341-ebe3-454f-909f-36f044ec18c5">
      <Terms xmlns="http://schemas.microsoft.com/office/infopath/2007/PartnerControls"/>
    </h297eec6a053455faa48274b79e8f120>
    <TaxCatchAllLabel xmlns="6bed5341-ebe3-454f-909f-36f044ec18c5" xsi:nil="true"/>
    <KMSRole xmlns="6bed5341-ebe3-454f-909f-36f044ec18c5">2</KMSRole>
    <KMSRevisionDate xmlns="6bed5341-ebe3-454f-909f-36f044ec18c5">2026-12-23T23:00:00+00:00</KMSRevisionDate>
    <KMSDocType xmlns="6bed5341-ebe3-454f-909f-36f044ec18c5" xsi:nil="true"/>
  </documentManagement>
</p:properties>
</file>

<file path=customXml/itemProps1.xml><?xml version="1.0" encoding="utf-8"?>
<ds:datastoreItem xmlns:ds="http://schemas.openxmlformats.org/officeDocument/2006/customXml" ds:itemID="{8CDBCBF7-6305-47A8-A318-689F97160C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ed5341-ebe3-454f-909f-36f044ec18c5"/>
    <ds:schemaRef ds:uri="4fa33c19-156f-4d53-8a37-f6529061f5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09D9EE-6810-4B6B-AD4C-D6608E6DA4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6032A77-E404-4456-94B8-4C6EE87B12A1}">
  <ds:schemaRefs>
    <ds:schemaRef ds:uri="http://schemas.microsoft.com/office/2006/metadata/properties"/>
    <ds:schemaRef ds:uri="http://schemas.microsoft.com/office/infopath/2007/PartnerControls"/>
    <ds:schemaRef ds:uri="ee248140-0f4f-4e0a-9dfe-ea49684699b4"/>
    <ds:schemaRef ds:uri="20176c2d-740a-4201-99c7-b9fad726a09a"/>
    <ds:schemaRef ds:uri="4fa33c19-156f-4d53-8a37-f6529061f5c4"/>
    <ds:schemaRef ds:uri="6bed5341-ebe3-454f-909f-36f044ec18c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4Dotnet_template_2026_dark</Template>
  <TotalTime>1328</TotalTime>
  <Words>808</Words>
  <Application>Microsoft Office PowerPoint</Application>
  <PresentationFormat>Aangepast</PresentationFormat>
  <Paragraphs>153</Paragraphs>
  <Slides>30</Slides>
  <Notes>28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30</vt:i4>
      </vt:variant>
    </vt:vector>
  </HeadingPairs>
  <TitlesOfParts>
    <vt:vector size="33" baseType="lpstr">
      <vt:lpstr>Arial</vt:lpstr>
      <vt:lpstr>Calibri</vt:lpstr>
      <vt:lpstr>Kantoorthema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Christiaan Martijn van Arkel</dc:creator>
  <cp:lastModifiedBy>Martijn van Arkel</cp:lastModifiedBy>
  <cp:revision>260</cp:revision>
  <dcterms:created xsi:type="dcterms:W3CDTF">2026-09-08T16:20:15Z</dcterms:created>
  <dcterms:modified xsi:type="dcterms:W3CDTF">2026-09-17T19:13:23Z</dcterms:modified>
  <dc:identifier>DAF6nhaL8gI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0x010100BE884009E1AF4E4AA68748A5339F4A5900DDA8CE9F2A9C024DB7BC804F36BEE7A4</vt:lpwstr>
  </property>
  <property fmtid="{D5CDD505-2E9C-101B-9397-08002B2CF9AE}" pid="3" name="MediaServiceImageTags">
    <vt:lpwstr/>
  </property>
  <property fmtid="{D5CDD505-2E9C-101B-9397-08002B2CF9AE}" pid="4" name="KMSCategory">
    <vt:lpwstr/>
  </property>
</Properties>
</file>